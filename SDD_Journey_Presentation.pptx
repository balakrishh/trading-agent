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Files in repo</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Sheet1!$B$2:$B$9</c:f>
              <c:numCache>
                <c:formatCode>General</c:formatCode>
                <c:ptCount val="8"/>
                <c:pt idx="0">
                  <c:v>3</c:v>
                </c:pt>
                <c:pt idx="1">
                  <c:v>7</c:v>
                </c:pt>
                <c:pt idx="2">
                  <c:v>14</c:v>
                </c:pt>
                <c:pt idx="3">
                  <c:v>22</c:v>
                </c:pt>
                <c:pt idx="4">
                  <c:v>32</c:v>
                </c:pt>
                <c:pt idx="5">
                  <c:v>42</c:v>
                </c:pt>
                <c:pt idx="6">
                  <c:v>51</c:v>
                </c:pt>
                <c:pt idx="7">
                  <c:v>62</c:v>
                </c:pt>
              </c:numCache>
            </c:numRef>
          </c:val>
          <c:smooth val="0"/>
        </c:ser>
        <c:ser>
          <c:idx val="1"/>
          <c:order val="1"/>
          <c:tx>
            <c:strRef>
              <c:f>Sheet1!$C$1</c:f>
              <c:strCache>
                <c:ptCount val="1"/>
                <c:pt idx="0">
                  <c:v>% LLM still remembers</c:v>
                </c:pt>
              </c:strCache>
            </c:strRef>
          </c:tx>
          <c:spPr>
            <a:solidFill>
              <a:srgbClr val="DC2626"/>
            </a:solidFill>
            <a:ln w="2540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2626"/>
              </a:solidFill>
              <a:ln w="9525" cap="flat">
                <a:solidFill>
                  <a:srgbClr val="DC2626"/>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Sheet1!$C$2:$C$9</c:f>
              <c:numCache>
                <c:formatCode>General</c:formatCode>
                <c:ptCount val="8"/>
                <c:pt idx="0">
                  <c:v>98</c:v>
                </c:pt>
                <c:pt idx="1">
                  <c:v>95</c:v>
                </c:pt>
                <c:pt idx="2">
                  <c:v>88</c:v>
                </c:pt>
                <c:pt idx="3">
                  <c:v>76</c:v>
                </c:pt>
                <c:pt idx="4">
                  <c:v>58</c:v>
                </c:pt>
                <c:pt idx="5">
                  <c:v>38</c:v>
                </c:pt>
                <c:pt idx="6">
                  <c:v>22</c:v>
                </c:pt>
                <c:pt idx="7">
                  <c:v>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screenshot is from my live trading dashboard last week. GLD Iron Condor. Opened at 1 PM. By 1:05 PM the P&amp;L said negative 60 percent. I sat there and stared at it for an hour. Was the math wrong? Was the broker feed corrupted? Did my agent take a position it shouldn't have?
The answer, as it turned out, was none of those things. The trade was structurally fine. My codebase was the problem — or rather, the way I'd been building it. The dashboard was reading from a stale plan, the position-monitor was attributing legs to the wrong spread, and the C/W floor I thought I'd documented somewhere — well, I had, but in a markdown file that no one was checking against the code.
I'm here today to walk you through the two months that led to that moment, and the two days after, when I rebuilt my entire development process around something called Spec-Driven Development. If you're using LLMs to ship anything beyond a prototype, this talk is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on what I built. A trading agent that scans options chains across nine ETFs, identifies credit-spread candidates that match a defined risk profile, runs them through guardrails, and submits orders to a paper Alpaca account. The market data comes from Schwab, the execution from Alpaca, the UI is Streamlit, the whole thing runs on a Raspberry Pi 5 in my office.
It's not enterprise software. It's not a startup. It's a personal project I started because I wanted to learn options-trading mechanics empirically rather than from books. But — and this is the important part — it's grown into something I actually trust with real money mechanics on a paper account, daily. That trust didn't come from a single 'aha' moment. It came from learning, repeatedly and painfully, that the way I was working with AI tools was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The honeymoon. Week one, I described the strategy in plain English, pasted it into Claude, got back a working module. Week two, I had a backtester. Week three, the agent was scanning real chains. I was writing more documentation than code, but it was all prose — readme files, architecture sketches, design notes.
The workflow was what I'd call 'vibe coding' — I'd describe a feature, an LLM would produce it, I'd ask a different LLM to review it for modularity and add tests, and I'd ship. Idea, code, sometimes docs, tests if I felt like it. Sometimes.
And honestly? It worked great. For a prototype. The agent took its first paper trade about three weeks in. I was thrilled. I thought, 'this is the future of solo development. I'm not a software engineer, I'm a product manager now. I direct the AI, it executes.'
Reader, I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hit the wall.
Around week five, the codebase crossed about three thousand lines. Suddenly, the LLM didn't 'know' my project anymore. I'd ask it to add a feature, and it would invent functions that didn't exist. I'd ask it to fix a bug, and it would 'fix' it in a way that broke two other modules. The architectural decisions I'd carefully explained in week two were gone from its context.
I started copying-and-pasting large chunks of code into prompts to remind it. That worked for a day or two before the context filled up again. I tried switching models — Gemini's longer window helped for big-picture questions, Claude was better at surgical fixes, but neither one had stable memory of my codebase between sessions.
The real killer was the whack-a-mole effect. Fix a bug in the risk manager, you get a regression in the executor. Update the executor, the dashboard goes blank. Update the dashboard, the journal stops parsing. I distinctly remember a Tuesday where I shipped four 'fixes' in a row, each of which broke something the previous one had repaired.
I stepped back. I asked myself an uncomfortable question: what's the source of truth in this project? And the answer was: the chat history. Which I couldn't search. Which the LLM couldn't see. Which wasn't actually architecture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I started writing a project manifest at the repo root — three pages of what the agent does, what the invariants are, where the surfaces of complexity live. And I started breaking every architectural concept out into its own markdown file under docs/skills/.
A skill file is small — five sections — theory, mathematical formula, reference Python code quoted verbatim from the source, edge cases, cross-references. One concept per file. POP-from-delta is skill 01. Credit-to-width floor is skill 03. The adaptive scan-mode logic is skill 14. Each file is self-contained — you can read any one of them in five minutes and know exactly what that concept does and where its source-of-truth lives.
The effect was immediate. Bugs dropped, alignment improved, and — critically — I could swap LLMs. Claude for surgical logic, Gemini when I needed broad context, local Qwen for fast iteration. Each new session, I'd hand the model the manifest plus the two or three relevant skills, and it would land in the codebase already oriented.
This is what I'd later learn is called Spec-Driven Development. At the time, I just called it 'finally being able to think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there was still a gap.
The skills were documentation — beautiful, atomic, well-organized documentation. But they were just prose. There was nothing forcing the live code to match what the skill described. I'd ship a fix, forget to update the skill, and three weeks later read the skill expecting it to tell me what the code does, only to find it was three weeks out of date.
That's exactly what happened with the GLD bug I showed at the start. The skill that documented how positions get aggregated into spreads said one thing. The code did another. And the dashboard rendered the discrepancy as a -60% paper loss that wasn't actually a loss.
The skills were necessary. They weren't sufficient. I was still doing the most important verification work — does the code match the spec? — manually, by reading both side by side. And I was, increasingly, forgetting to do it. So I went all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am today. Full Spec-Driven Development.
The pipeline inverted. Idea, then spec, then a failing conformance test, then code that makes the test pass, then re-stamp the footer, then push — and CI verifies that all three artifacts agree.
What does 'CI verifies' actually mean in practice? Five gates, all automated. Let me walk through them.
One. scan_invariant_check — AST-level checks of architectural invariants. The credit-to-width formula must appear identically in three files. Live and backtest code cannot import each other. Cannot define a 'shadow' scoring function. This was there from week three, and it's saved me dozens of regressions.
Two. scan_skill_quotes_match — the first code line of every §3 reference Python block must still appear in the cited source. If I rename a function, this fails CI until I update the skill.
Three. scan_skill_freshness — compares each skill's footer date against the git-mtime of its cited source. If I modify chain_scanner.py and forget to re-verify skill 03, CI fails. As of today, all 22 skills are fresh.
Four. build_traceability.py — regenerates a coverage matrix showing every skill ↔ source ↔ test ↔ runbook. CI fails if the matrix is stale.
Five. pytest tests/conformance/ — twenty assertions across four skills. Each test imports the documented function and asserts the documented math. Skill 03 says C/W floor equals delta times one plus edge buffer? The conformance test imports _cw_floor and runs that assertion across five delta values.
The result: any drift between spec and code becomes a CI failure, not a runtime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actionable part. Here are four scripts that anyone in this room could drop into their repo tomorrow, and instantly get most of the value of full SDD.
specify_new_feature.py — pass it a feature name in kebab-case. It picks the next free skill number, scaffolds a skill stub from your template, scaffolds a failing conformance test. Forces you to write the spec before you can write the code, because the test fails until you do.
scan_skill_freshness.py — runs in under a second, parses every skill, compares the footer date to git-log-mtime of the cited source. If you forgot to re-stamp after editing chain_scanner.py, this fails CI.
build_traceability.py — generates a markdown matrix mapping every skill to its source files, tests, and runbooks. The inverse view shows orphan code paths and orphan skills. My project showed 42 of 62 source files were orphans. About half of those turned out to be utilities that didn't really need a spec — but the visibility meant I could make that decision deliberately rather than by accident.
check_skill_updates_for_diff.py — a pre-commit hook. Reads your current diff, queries the traceability matrix, prints a checklist of which skills cite the changed files. Returns non-zero if any required skill wasn't updated.
These scripts are about a thousand lines total. No third-party dependencies beyond pytest. I'm planning to open-source them — they generalize to any LLM-assisted Python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One. Vibe coding is genuinely great for prototypes. It scales to about three thousand lines. After that, the LLM context runs out, your architectural memory becomes the bottleneck, and you start regressing things you already fixed. Don't fight this — plan for it.
Two. Chat history is not architecture. The conversations you have with Claude are not a substitute for a written design. They feel like documentation. They are not. Write the architecture down, on disk, in markdown, in atomic units.
Three. Specs are the source of truth. This sounds abstract. It's not. It means when there's a conflict between what your code does and what your spec says, you don't ask 'is the spec wrong?' — you ask 'is the spec right and the code drifted?' That inversion is the entire point of SDD.
Four. CI gates beat human discipline. Every time. I had every intention of re-stamping skill footers when I changed code. I forgot, fourteen times across nine skills. I never would have caught that manually. The script caught it in less than a second. Build the gates.
Five — and this is the one I'd put on a poster. The LLM is your collaborator, not your engineer. It will execute against a clear spec brilliantly. It will deteriorate against a vague prompt. You still own the spec. AI tools amplify your engineering discipline. They don't replace it.
If I could give my eight-weeks-ago self one message, it'd be: 'start writing the skills on day one, even when you don't think you need them.' Because the codebase you're going to have in two months is going to need them — and retrofitting is much, much harder than writing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journey. Two months from 'paste this into Claude' to 'CI tells me when my code lies about itself.'
The GLD trade is still in my account. It's now showing a small profit — turns out it was fine all along; my codebase was the broken thing. The fix wasn't to the trade or the strategy or even most of the code. The fix was to my process. To how I work with AI tools.
I'm going to open-source the SDD scripts on GitHub — link's at the bottom. If you take one thing away: when you start using LLMs to build something you actually care about, write the spec on day one. Before the code. Before the chat. Before you think you need to.
I'd love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548640"/>
            <a:ext cx="11247120" cy="1463040"/>
          </a:xfrm>
          <a:prstGeom prst="rect">
            <a:avLst/>
          </a:prstGeom>
          <a:solidFill>
            <a:srgbClr val="0F172A"/>
          </a:solidFill>
          <a:ln w="25400">
            <a:solidFill>
              <a:srgbClr val="DC2626"/>
            </a:solidFill>
            <a:prstDash val="solid"/>
          </a:ln>
        </p:spPr>
      </p:sp>
      <p:sp>
        <p:nvSpPr>
          <p:cNvPr id="3" name="Text 1"/>
          <p:cNvSpPr/>
          <p:nvPr/>
        </p:nvSpPr>
        <p:spPr>
          <a:xfrm>
            <a:off x="731520" y="685800"/>
            <a:ext cx="5486400" cy="274320"/>
          </a:xfrm>
          <a:prstGeom prst="rect">
            <a:avLst/>
          </a:prstGeom>
          <a:noFill/>
          <a:ln/>
        </p:spPr>
        <p:txBody>
          <a:bodyPr wrap="square" lIns="0" tIns="0" rIns="0" bIns="0" rtlCol="0" anchor="ctr"/>
          <a:lstStyle/>
          <a:p>
            <a:pPr indent="0" marL="0">
              <a:buNone/>
            </a:pPr>
            <a:r>
              <a:rPr lang="en-US" sz="1100" b="1" spc="300" kern="0" dirty="0">
                <a:solidFill>
                  <a:srgbClr val="DC2626"/>
                </a:solidFill>
                <a:latin typeface="Calibri" pitchFamily="34" charset="0"/>
                <a:ea typeface="Calibri" pitchFamily="34" charset="-122"/>
                <a:cs typeface="Calibri" pitchFamily="34" charset="-120"/>
              </a:rPr>
              <a:t>EXHIBIT A — DASHBOARD, 1:05 PM ET</a:t>
            </a:r>
            <a:endParaRPr lang="en-US" sz="1100" dirty="0"/>
          </a:p>
        </p:txBody>
      </p:sp>
      <p:sp>
        <p:nvSpPr>
          <p:cNvPr id="4" name="Text 2"/>
          <p:cNvSpPr/>
          <p:nvPr/>
        </p:nvSpPr>
        <p:spPr>
          <a:xfrm>
            <a:off x="731520" y="1051560"/>
            <a:ext cx="10972800" cy="822960"/>
          </a:xfrm>
          <a:prstGeom prst="rect">
            <a:avLst/>
          </a:prstGeom>
          <a:noFill/>
          <a:ln/>
        </p:spPr>
        <p:txBody>
          <a:bodyPr wrap="square" lIns="0" tIns="0" rIns="0" bIns="0" rtlCol="0" anchor="ctr"/>
          <a:lstStyle/>
          <a:p>
            <a:pPr indent="0" marL="0">
              <a:buNone/>
            </a:pPr>
            <a:r>
              <a:rPr lang="en-US" sz="2800" b="1" dirty="0">
                <a:solidFill>
                  <a:srgbClr val="F8FAFC"/>
                </a:solidFill>
              </a:rPr>
              <a:t>GLD </a:t>
            </a:r>
            <a:pPr indent="0" marL="0">
              <a:buNone/>
            </a:pPr>
            <a:r>
              <a:rPr lang="en-US" sz="1800" dirty="0">
                <a:solidFill>
                  <a:srgbClr val="64748B"/>
                </a:solidFill>
              </a:rPr>
              <a:t>Iron Condor   |   credit </a:t>
            </a:r>
            <a:pPr indent="0" marL="0">
              <a:buNone/>
            </a:pPr>
            <a:r>
              <a:rPr lang="en-US" sz="2200" b="1" dirty="0">
                <a:solidFill>
                  <a:srgbClr val="F8FAFC"/>
                </a:solidFill>
              </a:rPr>
              <a:t>$175</a:t>
            </a:r>
            <a:pPr indent="0" marL="0">
              <a:buNone/>
            </a:pPr>
            <a:r>
              <a:rPr lang="en-US" sz="1800" dirty="0">
                <a:solidFill>
                  <a:srgbClr val="64748B"/>
                </a:solidFill>
              </a:rPr>
              <a:t>   |   P&amp;L </a:t>
            </a:r>
            <a:pPr indent="0" marL="0">
              <a:buNone/>
            </a:pPr>
            <a:r>
              <a:rPr lang="en-US" sz="3200" b="1" dirty="0">
                <a:solidFill>
                  <a:srgbClr val="DC2626"/>
                </a:solidFill>
              </a:rPr>
              <a:t>−$120</a:t>
            </a:r>
            <a:pPr indent="0" marL="0">
              <a:buNone/>
            </a:pPr>
            <a:r>
              <a:rPr lang="en-US" sz="1800" dirty="0">
                <a:solidFill>
                  <a:srgbClr val="000000"/>
                </a:solidFill>
              </a:rPr>
              <a:t>   </a:t>
            </a:r>
            <a:pPr indent="0" marL="0">
              <a:buNone/>
            </a:pPr>
            <a:r>
              <a:rPr lang="en-US" sz="2200" b="1" dirty="0">
                <a:solidFill>
                  <a:srgbClr val="DC2626"/>
                </a:solidFill>
              </a:rPr>
              <a:t>−60%</a:t>
            </a:r>
            <a:endParaRPr lang="en-US" sz="2800" dirty="0"/>
          </a:p>
        </p:txBody>
      </p:sp>
      <p:sp>
        <p:nvSpPr>
          <p:cNvPr id="5" name="Text 3"/>
          <p:cNvSpPr/>
          <p:nvPr/>
        </p:nvSpPr>
        <p:spPr>
          <a:xfrm>
            <a:off x="457200" y="2560320"/>
            <a:ext cx="11247120" cy="1097280"/>
          </a:xfrm>
          <a:prstGeom prst="rect">
            <a:avLst/>
          </a:prstGeom>
          <a:noFill/>
          <a:ln/>
        </p:spPr>
        <p:txBody>
          <a:bodyPr wrap="square" lIns="0" tIns="0" rIns="0" bIns="0" rtlCol="0" anchor="ctr"/>
          <a:lstStyle/>
          <a:p>
            <a:pPr algn="ctr" indent="0" marL="0">
              <a:buNone/>
            </a:pPr>
            <a:r>
              <a:rPr lang="en-US" sz="3200" i="1" dirty="0">
                <a:solidFill>
                  <a:srgbClr val="F8FAFC"/>
                </a:solidFill>
                <a:latin typeface="Calibri" pitchFamily="34" charset="0"/>
                <a:ea typeface="Calibri" pitchFamily="34" charset="-122"/>
                <a:cs typeface="Calibri" pitchFamily="34" charset="-120"/>
              </a:rPr>
              <a:t>“This trade looked broken. Then I realized — so did my process.”</a:t>
            </a:r>
            <a:endParaRPr lang="en-US" sz="3200" dirty="0"/>
          </a:p>
        </p:txBody>
      </p:sp>
      <p:sp>
        <p:nvSpPr>
          <p:cNvPr id="6" name="Text 4"/>
          <p:cNvSpPr/>
          <p:nvPr/>
        </p:nvSpPr>
        <p:spPr>
          <a:xfrm>
            <a:off x="457200" y="4114800"/>
            <a:ext cx="11247120" cy="640080"/>
          </a:xfrm>
          <a:prstGeom prst="rect">
            <a:avLst/>
          </a:prstGeom>
          <a:noFill/>
          <a:ln/>
        </p:spPr>
        <p:txBody>
          <a:bodyPr wrap="square" lIns="0" tIns="0" rIns="0" bIns="0" rtlCol="0" anchor="ctr"/>
          <a:lstStyle/>
          <a:p>
            <a:pPr algn="ctr" indent="0" marL="0">
              <a:buNone/>
            </a:pPr>
            <a:r>
              <a:rPr lang="en-US" sz="2800" b="1" dirty="0">
                <a:solidFill>
                  <a:srgbClr val="5EEAD4"/>
                </a:solidFill>
                <a:latin typeface="Calibri" pitchFamily="34" charset="0"/>
                <a:ea typeface="Calibri" pitchFamily="34" charset="-122"/>
                <a:cs typeface="Calibri" pitchFamily="34" charset="-120"/>
              </a:rPr>
              <a:t>From Vibe Coding to Spec-Driven AI Engineering</a:t>
            </a:r>
            <a:endParaRPr lang="en-US" sz="2800" dirty="0"/>
          </a:p>
        </p:txBody>
      </p:sp>
      <p:sp>
        <p:nvSpPr>
          <p:cNvPr id="7" name="Text 5"/>
          <p:cNvSpPr/>
          <p:nvPr/>
        </p:nvSpPr>
        <p:spPr>
          <a:xfrm>
            <a:off x="457200" y="4937760"/>
            <a:ext cx="11247120" cy="36576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 two-month journey building a credit-spread trading agent  ·  ~6,000 lines · 22 skills · 1 paper account</a:t>
            </a:r>
            <a:endParaRPr lang="en-US" sz="1400" dirty="0"/>
          </a:p>
        </p:txBody>
      </p:sp>
      <p:sp>
        <p:nvSpPr>
          <p:cNvPr id="8" name="Text 6"/>
          <p:cNvSpPr/>
          <p:nvPr/>
        </p:nvSpPr>
        <p:spPr>
          <a:xfrm>
            <a:off x="457200" y="6035040"/>
            <a:ext cx="11247120" cy="27432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Bala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0D9488"/>
          </a:solidFill>
          <a:ln w="12700">
            <a:solidFill>
              <a:srgbClr val="0D9488"/>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PROJECT CONTEXT</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A Credit-Spread Options Agent</a:t>
            </a:r>
            <a:endParaRPr lang="en-US" sz="3600" dirty="0"/>
          </a:p>
        </p:txBody>
      </p:sp>
      <p:sp>
        <p:nvSpPr>
          <p:cNvPr id="5" name="Shape 3"/>
          <p:cNvSpPr/>
          <p:nvPr/>
        </p:nvSpPr>
        <p:spPr>
          <a:xfrm>
            <a:off x="457200" y="1920240"/>
            <a:ext cx="3657600" cy="3657600"/>
          </a:xfrm>
          <a:prstGeom prst="rect">
            <a:avLst/>
          </a:prstGeom>
          <a:solidFill>
            <a:srgbClr val="FFFFFF"/>
          </a:solidFill>
          <a:ln w="12700">
            <a:solidFill>
              <a:srgbClr val="CBD5E1"/>
            </a:solidFill>
            <a:prstDash val="solid"/>
          </a:ln>
        </p:spPr>
      </p:sp>
      <p:sp>
        <p:nvSpPr>
          <p:cNvPr id="6" name="Text 4"/>
          <p:cNvSpPr/>
          <p:nvPr/>
        </p:nvSpPr>
        <p:spPr>
          <a:xfrm>
            <a:off x="640080" y="2057400"/>
            <a:ext cx="3291840" cy="27432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ARCHITECTURE</a:t>
            </a:r>
            <a:endParaRPr lang="en-US" sz="1000" dirty="0"/>
          </a:p>
        </p:txBody>
      </p:sp>
      <p:sp>
        <p:nvSpPr>
          <p:cNvPr id="7" name="Text 5"/>
          <p:cNvSpPr/>
          <p:nvPr/>
        </p:nvSpPr>
        <p:spPr>
          <a:xfrm>
            <a:off x="640080" y="2514600"/>
            <a:ext cx="3291840" cy="2880360"/>
          </a:xfrm>
          <a:prstGeom prst="rect">
            <a:avLst/>
          </a:prstGeom>
          <a:noFill/>
          <a:ln/>
        </p:spPr>
        <p:txBody>
          <a:bodyPr wrap="square" rtlCol="0" anchor="t"/>
          <a:lstStyle/>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Market Data (Schwab)</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 Regime Classifier</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 Chain Scanner</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 Risk Manager</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 Executor (Alpaca paper)</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 Streamlit Dashboard</a:t>
            </a:r>
            <a:endParaRPr lang="en-US" sz="1400" dirty="0"/>
          </a:p>
        </p:txBody>
      </p:sp>
      <p:sp>
        <p:nvSpPr>
          <p:cNvPr id="8" name="Shape 6"/>
          <p:cNvSpPr/>
          <p:nvPr/>
        </p:nvSpPr>
        <p:spPr>
          <a:xfrm>
            <a:off x="4297680" y="1920240"/>
            <a:ext cx="3657600" cy="3657600"/>
          </a:xfrm>
          <a:prstGeom prst="rect">
            <a:avLst/>
          </a:prstGeom>
          <a:solidFill>
            <a:srgbClr val="FFFFFF"/>
          </a:solidFill>
          <a:ln w="12700">
            <a:solidFill>
              <a:srgbClr val="CBD5E1"/>
            </a:solidFill>
            <a:prstDash val="solid"/>
          </a:ln>
        </p:spPr>
      </p:sp>
      <p:sp>
        <p:nvSpPr>
          <p:cNvPr id="9" name="Text 7"/>
          <p:cNvSpPr/>
          <p:nvPr/>
        </p:nvSpPr>
        <p:spPr>
          <a:xfrm>
            <a:off x="4480560" y="2057400"/>
            <a:ext cx="3291840" cy="27432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STACK</a:t>
            </a:r>
            <a:endParaRPr lang="en-US" sz="1000" dirty="0"/>
          </a:p>
        </p:txBody>
      </p:sp>
      <p:sp>
        <p:nvSpPr>
          <p:cNvPr id="10" name="Text 8"/>
          <p:cNvSpPr/>
          <p:nvPr/>
        </p:nvSpPr>
        <p:spPr>
          <a:xfrm>
            <a:off x="4480560" y="2514600"/>
            <a:ext cx="3291840" cy="2880360"/>
          </a:xfrm>
          <a:prstGeom prst="rect">
            <a:avLst/>
          </a:prstGeom>
          <a:noFill/>
          <a:ln/>
        </p:spPr>
        <p:txBody>
          <a:bodyPr wrap="square" rtlCol="0" anchor="t"/>
          <a:lstStyle/>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Python 3.11–3.14</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Streamlit dashboard</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Alpaca (paper execution)</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Schwab (live options data)</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Raspberry Pi 5 deploy</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Pytest + custom CI</a:t>
            </a:r>
            <a:endParaRPr lang="en-US" sz="1400" dirty="0"/>
          </a:p>
        </p:txBody>
      </p:sp>
      <p:sp>
        <p:nvSpPr>
          <p:cNvPr id="11" name="Shape 9"/>
          <p:cNvSpPr/>
          <p:nvPr/>
        </p:nvSpPr>
        <p:spPr>
          <a:xfrm>
            <a:off x="8138160" y="1920240"/>
            <a:ext cx="3566160" cy="3657600"/>
          </a:xfrm>
          <a:prstGeom prst="rect">
            <a:avLst/>
          </a:prstGeom>
          <a:solidFill>
            <a:srgbClr val="1E293B"/>
          </a:solidFill>
          <a:ln w="12700">
            <a:solidFill>
              <a:srgbClr val="1E293B"/>
            </a:solidFill>
            <a:prstDash val="solid"/>
          </a:ln>
        </p:spPr>
      </p:sp>
      <p:sp>
        <p:nvSpPr>
          <p:cNvPr id="12" name="Text 10"/>
          <p:cNvSpPr/>
          <p:nvPr/>
        </p:nvSpPr>
        <p:spPr>
          <a:xfrm>
            <a:off x="8321040" y="2057400"/>
            <a:ext cx="3200400" cy="274320"/>
          </a:xfrm>
          <a:prstGeom prst="rect">
            <a:avLst/>
          </a:prstGeom>
          <a:noFill/>
          <a:ln/>
        </p:spPr>
        <p:txBody>
          <a:bodyPr wrap="square" lIns="0" tIns="0" rIns="0" bIns="0" rtlCol="0" anchor="ctr"/>
          <a:lstStyle/>
          <a:p>
            <a:pPr indent="0" marL="0">
              <a:buNone/>
            </a:pPr>
            <a:r>
              <a:rPr lang="en-US" sz="1000" b="1" spc="300" kern="0" dirty="0">
                <a:solidFill>
                  <a:srgbClr val="5EEAD4"/>
                </a:solidFill>
                <a:latin typeface="Calibri" pitchFamily="34" charset="0"/>
                <a:ea typeface="Calibri" pitchFamily="34" charset="-122"/>
                <a:cs typeface="Calibri" pitchFamily="34" charset="-120"/>
              </a:rPr>
              <a:t>AI COLLABORATORS</a:t>
            </a:r>
            <a:endParaRPr lang="en-US" sz="1000" dirty="0"/>
          </a:p>
        </p:txBody>
      </p:sp>
      <p:sp>
        <p:nvSpPr>
          <p:cNvPr id="13" name="Text 11"/>
          <p:cNvSpPr/>
          <p:nvPr/>
        </p:nvSpPr>
        <p:spPr>
          <a:xfrm>
            <a:off x="8321040" y="2514600"/>
            <a:ext cx="3200400" cy="2880360"/>
          </a:xfrm>
          <a:prstGeom prst="rect">
            <a:avLst/>
          </a:prstGeom>
          <a:noFill/>
          <a:ln/>
        </p:spPr>
        <p:txBody>
          <a:bodyPr wrap="square" rtlCol="0" anchor="t"/>
          <a:lstStyle/>
          <a:p>
            <a:pPr indent="0" marL="0">
              <a:buNone/>
            </a:pPr>
            <a:r>
              <a:rPr lang="en-US" sz="1600" b="1" dirty="0">
                <a:solidFill>
                  <a:srgbClr val="F8FAFC"/>
                </a:solidFill>
              </a:rPr>
              <a:t>Claude Code</a:t>
            </a:r>
            <a:endParaRPr lang="en-US" sz="1600" dirty="0"/>
          </a:p>
          <a:p>
            <a:pPr indent="0" marL="0">
              <a:buNone/>
            </a:pPr>
            <a:r>
              <a:rPr lang="en-US" sz="1200" dirty="0">
                <a:solidFill>
                  <a:srgbClr val="64748B"/>
                </a:solidFill>
              </a:rPr>
              <a:t>  surgical logic + refactors
</a:t>
            </a:r>
            <a:endParaRPr lang="en-US" sz="1600" dirty="0"/>
          </a:p>
          <a:p>
            <a:pPr indent="0" marL="0">
              <a:buNone/>
            </a:pPr>
            <a:r>
              <a:rPr lang="en-US" sz="1600" b="1" dirty="0">
                <a:solidFill>
                  <a:srgbClr val="F8FAFC"/>
                </a:solidFill>
              </a:rPr>
              <a:t>GPT</a:t>
            </a:r>
            <a:endParaRPr lang="en-US" sz="1600" dirty="0"/>
          </a:p>
          <a:p>
            <a:pPr indent="0" marL="0">
              <a:buNone/>
            </a:pPr>
            <a:r>
              <a:rPr lang="en-US" sz="1200" dirty="0">
                <a:solidFill>
                  <a:srgbClr val="64748B"/>
                </a:solidFill>
              </a:rPr>
              <a:t>  broad-context exploration
</a:t>
            </a:r>
            <a:endParaRPr lang="en-US" sz="1600" dirty="0"/>
          </a:p>
          <a:p>
            <a:pPr indent="0" marL="0">
              <a:buNone/>
            </a:pPr>
            <a:r>
              <a:rPr lang="en-US" sz="1600" b="1" dirty="0">
                <a:solidFill>
                  <a:srgbClr val="F8FAFC"/>
                </a:solidFill>
              </a:rPr>
              <a:t>Gemini</a:t>
            </a:r>
            <a:endParaRPr lang="en-US" sz="1600" dirty="0"/>
          </a:p>
          <a:p>
            <a:pPr indent="0" marL="0">
              <a:buNone/>
            </a:pPr>
            <a:r>
              <a:rPr lang="en-US" sz="1200" dirty="0">
                <a:solidFill>
                  <a:srgbClr val="64748B"/>
                </a:solidFill>
              </a:rPr>
              <a:t>  long-window research
</a:t>
            </a:r>
            <a:endParaRPr lang="en-US" sz="1600" dirty="0"/>
          </a:p>
          <a:p>
            <a:pPr indent="0" marL="0">
              <a:buNone/>
            </a:pPr>
            <a:r>
              <a:rPr lang="en-US" sz="1600" b="1" dirty="0">
                <a:solidFill>
                  <a:srgbClr val="F8FAFC"/>
                </a:solidFill>
              </a:rPr>
              <a:t>Local Qwen</a:t>
            </a:r>
            <a:endParaRPr lang="en-US" sz="1600" dirty="0"/>
          </a:p>
          <a:p>
            <a:pPr indent="0" marL="0">
              <a:buNone/>
            </a:pPr>
            <a:r>
              <a:rPr lang="en-US" sz="1200" dirty="0">
                <a:solidFill>
                  <a:srgbClr val="64748B"/>
                </a:solidFill>
              </a:rPr>
              <a:t>  fast iteration</a:t>
            </a:r>
            <a:endParaRPr lang="en-US" sz="1600" dirty="0"/>
          </a:p>
        </p:txBody>
      </p:sp>
      <p:sp>
        <p:nvSpPr>
          <p:cNvPr id="14" name="Text 12"/>
          <p:cNvSpPr/>
          <p:nvPr/>
        </p:nvSpPr>
        <p:spPr>
          <a:xfrm>
            <a:off x="457200" y="5852160"/>
            <a:ext cx="11247120" cy="365760"/>
          </a:xfrm>
          <a:prstGeom prst="rect">
            <a:avLst/>
          </a:prstGeom>
          <a:noFill/>
          <a:ln/>
        </p:spPr>
        <p:txBody>
          <a:bodyPr wrap="square" rtlCol="0" anchor="ctr"/>
          <a:lstStyle/>
          <a:p>
            <a:pPr algn="ctr" indent="0" marL="0">
              <a:buNone/>
            </a:pPr>
            <a:r>
              <a:rPr lang="en-US" sz="1600" i="1" dirty="0">
                <a:solidFill>
                  <a:srgbClr val="64748B"/>
                </a:solidFill>
                <a:latin typeface="Calibri" pitchFamily="34" charset="0"/>
                <a:ea typeface="Calibri" pitchFamily="34" charset="-122"/>
                <a:cs typeface="Calibri" pitchFamily="34" charset="-120"/>
              </a:rPr>
              <a:t>$5K paper account. Real strategy. Daily decisions.</a:t>
            </a:r>
            <a:endParaRPr lang="en-US" sz="1600" dirty="0"/>
          </a:p>
        </p:txBody>
      </p:sp>
      <p:sp>
        <p:nvSpPr>
          <p:cNvPr id="15" name="Text 13"/>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10</a:t>
            </a:r>
            <a:endParaRPr lang="en-US" sz="900" dirty="0"/>
          </a:p>
        </p:txBody>
      </p:sp>
      <p:sp>
        <p:nvSpPr>
          <p:cNvPr id="16" name="Text 14"/>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59E0B"/>
          </a:solidFill>
          <a:ln w="12700">
            <a:solidFill>
              <a:srgbClr val="F59E0B"/>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1  ·  WEEKS 1–4</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The Vibe-Coding Honeymoon</a:t>
            </a:r>
            <a:endParaRPr lang="en-US" sz="3600" dirty="0"/>
          </a:p>
        </p:txBody>
      </p:sp>
      <p:sp>
        <p:nvSpPr>
          <p:cNvPr id="5" name="Shape 3"/>
          <p:cNvSpPr/>
          <p:nvPr/>
        </p:nvSpPr>
        <p:spPr>
          <a:xfrm>
            <a:off x="457200" y="1828800"/>
            <a:ext cx="5486400" cy="3931920"/>
          </a:xfrm>
          <a:prstGeom prst="rect">
            <a:avLst/>
          </a:prstGeom>
          <a:solidFill>
            <a:srgbClr val="FFFFFF"/>
          </a:solidFill>
          <a:ln w="12700">
            <a:solidFill>
              <a:srgbClr val="CBD5E1"/>
            </a:solidFill>
            <a:prstDash val="solid"/>
          </a:ln>
        </p:spPr>
      </p:sp>
      <p:sp>
        <p:nvSpPr>
          <p:cNvPr id="6" name="Text 4"/>
          <p:cNvSpPr/>
          <p:nvPr/>
        </p:nvSpPr>
        <p:spPr>
          <a:xfrm>
            <a:off x="685800" y="1965960"/>
            <a:ext cx="502920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WORKFLOW</a:t>
            </a:r>
            <a:endParaRPr lang="en-US" sz="1000" dirty="0"/>
          </a:p>
        </p:txBody>
      </p:sp>
      <p:sp>
        <p:nvSpPr>
          <p:cNvPr id="7" name="Shape 5"/>
          <p:cNvSpPr/>
          <p:nvPr/>
        </p:nvSpPr>
        <p:spPr>
          <a:xfrm>
            <a:off x="685800" y="2331720"/>
            <a:ext cx="5029200" cy="1097280"/>
          </a:xfrm>
          <a:prstGeom prst="rect">
            <a:avLst/>
          </a:prstGeom>
          <a:solidFill>
            <a:srgbClr val="F1F5F9"/>
          </a:solidFill>
          <a:ln w="12700">
            <a:solidFill>
              <a:srgbClr val="CBD5E1"/>
            </a:solidFill>
            <a:prstDash val="solid"/>
          </a:ln>
        </p:spPr>
      </p:sp>
      <p:sp>
        <p:nvSpPr>
          <p:cNvPr id="8" name="Text 6"/>
          <p:cNvSpPr/>
          <p:nvPr/>
        </p:nvSpPr>
        <p:spPr>
          <a:xfrm>
            <a:off x="868680" y="2423160"/>
            <a:ext cx="4663440" cy="960120"/>
          </a:xfrm>
          <a:prstGeom prst="rect">
            <a:avLst/>
          </a:prstGeom>
          <a:noFill/>
          <a:ln/>
        </p:spPr>
        <p:txBody>
          <a:bodyPr wrap="square" lIns="0" tIns="0" rIns="0" bIns="0" rtlCol="0" anchor="t"/>
          <a:lstStyle/>
          <a:p>
            <a:pPr indent="0" marL="0">
              <a:buNone/>
            </a:pPr>
            <a:r>
              <a:rPr lang="en-US" sz="1000" b="1" dirty="0">
                <a:solidFill>
                  <a:srgbClr val="64748B"/>
                </a:solidFill>
                <a:latin typeface="Calibri" pitchFamily="34" charset="0"/>
                <a:ea typeface="Calibri" pitchFamily="34" charset="-122"/>
                <a:cs typeface="Calibri" pitchFamily="34" charset="-120"/>
              </a:rPr>
              <a:t>PROMPT  ·  </a:t>
            </a:r>
            <a:pPr indent="0" marL="0">
              <a:buNone/>
            </a:pPr>
            <a:r>
              <a:rPr lang="en-US" sz="1000" i="1" dirty="0">
                <a:solidFill>
                  <a:srgbClr val="64748B"/>
                </a:solidFill>
                <a:latin typeface="Calibri" pitchFamily="34" charset="0"/>
                <a:ea typeface="Calibri" pitchFamily="34" charset="-122"/>
                <a:cs typeface="Calibri" pitchFamily="34" charset="-120"/>
              </a:rPr>
              <a:t>casually
</a:t>
            </a:r>
            <a:endParaRPr lang="en-US" sz="1000" dirty="0"/>
          </a:p>
          <a:p>
            <a:pPr indent="0" marL="0">
              <a:buNone/>
            </a:pPr>
            <a:r>
              <a:rPr lang="en-US" sz="1300" i="1" dirty="0">
                <a:solidFill>
                  <a:srgbClr val="1E293B"/>
                </a:solidFill>
                <a:latin typeface="Calibri" pitchFamily="34" charset="0"/>
                <a:ea typeface="Calibri" pitchFamily="34" charset="-122"/>
                <a:cs typeface="Calibri" pitchFamily="34" charset="-120"/>
              </a:rPr>
              <a:t>“Build me a Python module that fetches GLD's option chain and finds bull-put-spread candidates at 21 DTE with delta around 0.3.”</a:t>
            </a:r>
            <a:endParaRPr lang="en-US" sz="1000" dirty="0"/>
          </a:p>
        </p:txBody>
      </p:sp>
      <p:sp>
        <p:nvSpPr>
          <p:cNvPr id="9" name="Text 7"/>
          <p:cNvSpPr/>
          <p:nvPr/>
        </p:nvSpPr>
        <p:spPr>
          <a:xfrm>
            <a:off x="685800" y="3520440"/>
            <a:ext cx="5029200" cy="27432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10" name="Shape 8"/>
          <p:cNvSpPr/>
          <p:nvPr/>
        </p:nvSpPr>
        <p:spPr>
          <a:xfrm>
            <a:off x="685800" y="3840480"/>
            <a:ext cx="5029200" cy="1417320"/>
          </a:xfrm>
          <a:prstGeom prst="rect">
            <a:avLst/>
          </a:prstGeom>
          <a:solidFill>
            <a:srgbClr val="F1F5F9"/>
          </a:solidFill>
          <a:ln w="25400">
            <a:solidFill>
              <a:srgbClr val="16A34A"/>
            </a:solidFill>
            <a:prstDash val="solid"/>
          </a:ln>
        </p:spPr>
      </p:sp>
      <p:sp>
        <p:nvSpPr>
          <p:cNvPr id="11" name="Text 9"/>
          <p:cNvSpPr/>
          <p:nvPr/>
        </p:nvSpPr>
        <p:spPr>
          <a:xfrm>
            <a:off x="868680" y="3913632"/>
            <a:ext cx="4663440" cy="1280160"/>
          </a:xfrm>
          <a:prstGeom prst="rect">
            <a:avLst/>
          </a:prstGeom>
          <a:noFill/>
          <a:ln/>
        </p:spPr>
        <p:txBody>
          <a:bodyPr wrap="square" lIns="0" tIns="0" rIns="0" bIns="0" rtlCol="0" anchor="t"/>
          <a:lstStyle/>
          <a:p>
            <a:pPr indent="0" marL="0">
              <a:buNone/>
            </a:pPr>
            <a:r>
              <a:rPr lang="en-US" sz="1000" b="1" dirty="0">
                <a:solidFill>
                  <a:srgbClr val="64748B"/>
                </a:solidFill>
                <a:latin typeface="Calibri" pitchFamily="34" charset="0"/>
                <a:ea typeface="Calibri" pitchFamily="34" charset="-122"/>
                <a:cs typeface="Calibri" pitchFamily="34" charset="-120"/>
              </a:rPr>
              <a:t>OUTPUT  ·  </a:t>
            </a:r>
            <a:pPr indent="0" marL="0">
              <a:buNone/>
            </a:pPr>
            <a:r>
              <a:rPr lang="en-US" sz="1000" i="1" dirty="0">
                <a:solidFill>
                  <a:srgbClr val="16A34A"/>
                </a:solidFill>
                <a:latin typeface="Calibri" pitchFamily="34" charset="0"/>
                <a:ea typeface="Calibri" pitchFamily="34" charset="-122"/>
                <a:cs typeface="Calibri" pitchFamily="34" charset="-120"/>
              </a:rPr>
              <a:t>ship it
</a:t>
            </a:r>
            <a:endParaRPr lang="en-US" sz="1000" dirty="0"/>
          </a:p>
          <a:p>
            <a:pPr indent="0" marL="0">
              <a:buNone/>
            </a:pPr>
            <a:r>
              <a:rPr lang="en-US" sz="1300" dirty="0">
                <a:solidFill>
                  <a:srgbClr val="1E293B"/>
                </a:solidFill>
                <a:latin typeface="Calibri" pitchFamily="34" charset="0"/>
                <a:ea typeface="Calibri" pitchFamily="34" charset="-122"/>
                <a:cs typeface="Calibri" pitchFamily="34" charset="-120"/>
              </a:rPr>
              <a:t>✓  80 lines of working Python
</a:t>
            </a:r>
            <a:endParaRPr lang="en-US" sz="1000" dirty="0"/>
          </a:p>
          <a:p>
            <a:pPr indent="0" marL="0">
              <a:buNone/>
            </a:pPr>
            <a:r>
              <a:rPr lang="en-US" sz="1300" dirty="0">
                <a:solidFill>
                  <a:srgbClr val="1E293B"/>
                </a:solidFill>
                <a:latin typeface="Calibri" pitchFamily="34" charset="0"/>
                <a:ea typeface="Calibri" pitchFamily="34" charset="-122"/>
                <a:cs typeface="Calibri" pitchFamily="34" charset="-120"/>
              </a:rPr>
              <a:t>✓  Tests retrofitted by a 2nd LLM
</a:t>
            </a:r>
            <a:endParaRPr lang="en-US" sz="1000" dirty="0"/>
          </a:p>
          <a:p>
            <a:pPr indent="0" marL="0">
              <a:buNone/>
            </a:pPr>
            <a:r>
              <a:rPr lang="en-US" sz="1300" dirty="0">
                <a:solidFill>
                  <a:srgbClr val="1E293B"/>
                </a:solidFill>
                <a:latin typeface="Calibri" pitchFamily="34" charset="0"/>
                <a:ea typeface="Calibri" pitchFamily="34" charset="-122"/>
                <a:cs typeface="Calibri" pitchFamily="34" charset="-120"/>
              </a:rPr>
              <a:t>✓  Merged into main</a:t>
            </a:r>
            <a:endParaRPr lang="en-US" sz="1000" dirty="0"/>
          </a:p>
        </p:txBody>
      </p:sp>
      <p:sp>
        <p:nvSpPr>
          <p:cNvPr id="12" name="Text 10"/>
          <p:cNvSpPr/>
          <p:nvPr/>
        </p:nvSpPr>
        <p:spPr>
          <a:xfrm>
            <a:off x="457200" y="5349240"/>
            <a:ext cx="5486400" cy="32004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Idea  →  Code  →  (Sometimes) Docs  →  Tests Retrofitted</a:t>
            </a:r>
            <a:endParaRPr lang="en-US" sz="1200" dirty="0"/>
          </a:p>
        </p:txBody>
      </p:sp>
      <p:sp>
        <p:nvSpPr>
          <p:cNvPr id="13" name="Shape 11"/>
          <p:cNvSpPr/>
          <p:nvPr/>
        </p:nvSpPr>
        <p:spPr>
          <a:xfrm>
            <a:off x="6217920" y="1828800"/>
            <a:ext cx="5486400" cy="3931920"/>
          </a:xfrm>
          <a:prstGeom prst="rect">
            <a:avLst/>
          </a:prstGeom>
          <a:solidFill>
            <a:srgbClr val="1E293B"/>
          </a:solidFill>
          <a:ln w="12700">
            <a:solidFill>
              <a:srgbClr val="1E293B"/>
            </a:solidFill>
            <a:prstDash val="solid"/>
          </a:ln>
        </p:spPr>
      </p:sp>
      <p:sp>
        <p:nvSpPr>
          <p:cNvPr id="14" name="Text 12"/>
          <p:cNvSpPr/>
          <p:nvPr/>
        </p:nvSpPr>
        <p:spPr>
          <a:xfrm>
            <a:off x="6446520" y="1965960"/>
            <a:ext cx="50292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FIRST 3 WEEKS</a:t>
            </a:r>
            <a:endParaRPr lang="en-US" sz="1000" dirty="0"/>
          </a:p>
        </p:txBody>
      </p:sp>
      <p:sp>
        <p:nvSpPr>
          <p:cNvPr id="15" name="Text 13"/>
          <p:cNvSpPr/>
          <p:nvPr/>
        </p:nvSpPr>
        <p:spPr>
          <a:xfrm>
            <a:off x="6446520" y="2423160"/>
            <a:ext cx="1097280" cy="320040"/>
          </a:xfrm>
          <a:prstGeom prst="rect">
            <a:avLst/>
          </a:prstGeom>
          <a:noFill/>
          <a:ln/>
        </p:spPr>
        <p:txBody>
          <a:bodyPr wrap="square" lIns="0" tIns="0" rIns="0" bIns="0" rtlCol="0" anchor="ctr"/>
          <a:lstStyle/>
          <a:p>
            <a:pPr indent="0" marL="0">
              <a:buNone/>
            </a:pPr>
            <a:r>
              <a:rPr lang="en-US" sz="1000" b="1" spc="200" kern="0" dirty="0">
                <a:solidFill>
                  <a:srgbClr val="5EEAD4"/>
                </a:solidFill>
                <a:latin typeface="Calibri" pitchFamily="34" charset="0"/>
                <a:ea typeface="Calibri" pitchFamily="34" charset="-122"/>
                <a:cs typeface="Calibri" pitchFamily="34" charset="-120"/>
              </a:rPr>
              <a:t>WEEK 1</a:t>
            </a:r>
            <a:endParaRPr lang="en-US" sz="1000" dirty="0"/>
          </a:p>
        </p:txBody>
      </p:sp>
      <p:sp>
        <p:nvSpPr>
          <p:cNvPr id="16" name="Text 14"/>
          <p:cNvSpPr/>
          <p:nvPr/>
        </p:nvSpPr>
        <p:spPr>
          <a:xfrm>
            <a:off x="7589520" y="2423160"/>
            <a:ext cx="3931920" cy="32004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First scan works on a real chain</a:t>
            </a:r>
            <a:endParaRPr lang="en-US" sz="1400" dirty="0"/>
          </a:p>
        </p:txBody>
      </p:sp>
      <p:sp>
        <p:nvSpPr>
          <p:cNvPr id="17" name="Text 15"/>
          <p:cNvSpPr/>
          <p:nvPr/>
        </p:nvSpPr>
        <p:spPr>
          <a:xfrm>
            <a:off x="6446520" y="2926080"/>
            <a:ext cx="1097280" cy="320040"/>
          </a:xfrm>
          <a:prstGeom prst="rect">
            <a:avLst/>
          </a:prstGeom>
          <a:noFill/>
          <a:ln/>
        </p:spPr>
        <p:txBody>
          <a:bodyPr wrap="square" lIns="0" tIns="0" rIns="0" bIns="0" rtlCol="0" anchor="ctr"/>
          <a:lstStyle/>
          <a:p>
            <a:pPr indent="0" marL="0">
              <a:buNone/>
            </a:pPr>
            <a:r>
              <a:rPr lang="en-US" sz="1000" b="1" spc="200" kern="0" dirty="0">
                <a:solidFill>
                  <a:srgbClr val="5EEAD4"/>
                </a:solidFill>
                <a:latin typeface="Calibri" pitchFamily="34" charset="0"/>
                <a:ea typeface="Calibri" pitchFamily="34" charset="-122"/>
                <a:cs typeface="Calibri" pitchFamily="34" charset="-120"/>
              </a:rPr>
              <a:t>WEEK 2</a:t>
            </a:r>
            <a:endParaRPr lang="en-US" sz="1000" dirty="0"/>
          </a:p>
        </p:txBody>
      </p:sp>
      <p:sp>
        <p:nvSpPr>
          <p:cNvPr id="18" name="Text 16"/>
          <p:cNvSpPr/>
          <p:nvPr/>
        </p:nvSpPr>
        <p:spPr>
          <a:xfrm>
            <a:off x="7589520" y="2926080"/>
            <a:ext cx="3931920" cy="32004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Backtester wired up to historical data</a:t>
            </a:r>
            <a:endParaRPr lang="en-US" sz="1400" dirty="0"/>
          </a:p>
        </p:txBody>
      </p:sp>
      <p:sp>
        <p:nvSpPr>
          <p:cNvPr id="19" name="Text 17"/>
          <p:cNvSpPr/>
          <p:nvPr/>
        </p:nvSpPr>
        <p:spPr>
          <a:xfrm>
            <a:off x="6446520" y="3429000"/>
            <a:ext cx="1097280" cy="320040"/>
          </a:xfrm>
          <a:prstGeom prst="rect">
            <a:avLst/>
          </a:prstGeom>
          <a:noFill/>
          <a:ln/>
        </p:spPr>
        <p:txBody>
          <a:bodyPr wrap="square" lIns="0" tIns="0" rIns="0" bIns="0" rtlCol="0" anchor="ctr"/>
          <a:lstStyle/>
          <a:p>
            <a:pPr indent="0" marL="0">
              <a:buNone/>
            </a:pPr>
            <a:r>
              <a:rPr lang="en-US" sz="1000" b="1" spc="200" kern="0" dirty="0">
                <a:solidFill>
                  <a:srgbClr val="5EEAD4"/>
                </a:solidFill>
                <a:latin typeface="Calibri" pitchFamily="34" charset="0"/>
                <a:ea typeface="Calibri" pitchFamily="34" charset="-122"/>
                <a:cs typeface="Calibri" pitchFamily="34" charset="-120"/>
              </a:rPr>
              <a:t>WEEK 3</a:t>
            </a:r>
            <a:endParaRPr lang="en-US" sz="1000" dirty="0"/>
          </a:p>
        </p:txBody>
      </p:sp>
      <p:sp>
        <p:nvSpPr>
          <p:cNvPr id="20" name="Text 18"/>
          <p:cNvSpPr/>
          <p:nvPr/>
        </p:nvSpPr>
        <p:spPr>
          <a:xfrm>
            <a:off x="7589520" y="3429000"/>
            <a:ext cx="3931920" cy="32004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Risk manager + Streamlit dashboard</a:t>
            </a:r>
            <a:endParaRPr lang="en-US" sz="1400" dirty="0"/>
          </a:p>
        </p:txBody>
      </p:sp>
      <p:sp>
        <p:nvSpPr>
          <p:cNvPr id="21" name="Text 19"/>
          <p:cNvSpPr/>
          <p:nvPr/>
        </p:nvSpPr>
        <p:spPr>
          <a:xfrm>
            <a:off x="6446520" y="3931920"/>
            <a:ext cx="1097280" cy="320040"/>
          </a:xfrm>
          <a:prstGeom prst="rect">
            <a:avLst/>
          </a:prstGeom>
          <a:noFill/>
          <a:ln/>
        </p:spPr>
        <p:txBody>
          <a:bodyPr wrap="square" lIns="0" tIns="0" rIns="0" bIns="0" rtlCol="0" anchor="ctr"/>
          <a:lstStyle/>
          <a:p>
            <a:pPr indent="0" marL="0">
              <a:buNone/>
            </a:pPr>
            <a:r>
              <a:rPr lang="en-US" sz="1000" b="1" spc="200" kern="0" dirty="0">
                <a:solidFill>
                  <a:srgbClr val="5EEAD4"/>
                </a:solidFill>
                <a:latin typeface="Calibri" pitchFamily="34" charset="0"/>
                <a:ea typeface="Calibri" pitchFamily="34" charset="-122"/>
                <a:cs typeface="Calibri" pitchFamily="34" charset="-120"/>
              </a:rPr>
              <a:t>WEEK 4</a:t>
            </a:r>
            <a:endParaRPr lang="en-US" sz="1000" dirty="0"/>
          </a:p>
        </p:txBody>
      </p:sp>
      <p:sp>
        <p:nvSpPr>
          <p:cNvPr id="22" name="Text 20"/>
          <p:cNvSpPr/>
          <p:nvPr/>
        </p:nvSpPr>
        <p:spPr>
          <a:xfrm>
            <a:off x="7589520" y="3931920"/>
            <a:ext cx="3931920" cy="32004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First paper trade submitted to Alpaca</a:t>
            </a:r>
            <a:endParaRPr lang="en-US" sz="1400" dirty="0"/>
          </a:p>
        </p:txBody>
      </p:sp>
      <p:sp>
        <p:nvSpPr>
          <p:cNvPr id="23" name="Text 21"/>
          <p:cNvSpPr/>
          <p:nvPr/>
        </p:nvSpPr>
        <p:spPr>
          <a:xfrm>
            <a:off x="6446520" y="5029200"/>
            <a:ext cx="5029200" cy="36576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“this is the future of solo development”</a:t>
            </a:r>
            <a:endParaRPr lang="en-US" sz="1400" dirty="0"/>
          </a:p>
        </p:txBody>
      </p:sp>
      <p:sp>
        <p:nvSpPr>
          <p:cNvPr id="24" name="Text 22"/>
          <p:cNvSpPr/>
          <p:nvPr/>
        </p:nvSpPr>
        <p:spPr>
          <a:xfrm>
            <a:off x="6446520" y="5394960"/>
            <a:ext cx="5029200" cy="274320"/>
          </a:xfrm>
          <a:prstGeom prst="rect">
            <a:avLst/>
          </a:prstGeom>
          <a:noFill/>
          <a:ln/>
        </p:spPr>
        <p:txBody>
          <a:bodyPr wrap="square" lIns="0" tIns="0" rIns="0" bIns="0" rtlCol="0" anchor="ctr"/>
          <a:lstStyle/>
          <a:p>
            <a:pPr algn="ctr" indent="0" marL="0">
              <a:buNone/>
            </a:pPr>
            <a:r>
              <a:rPr lang="en-US" sz="1100" b="1" i="1" dirty="0">
                <a:solidFill>
                  <a:srgbClr val="DC2626"/>
                </a:solidFill>
                <a:latin typeface="Calibri" pitchFamily="34" charset="0"/>
                <a:ea typeface="Calibri" pitchFamily="34" charset="-122"/>
                <a:cs typeface="Calibri" pitchFamily="34" charset="-120"/>
              </a:rPr>
              <a:t>Reader, I was wrong.</a:t>
            </a:r>
            <a:endParaRPr lang="en-US" sz="1100" dirty="0"/>
          </a:p>
        </p:txBody>
      </p:sp>
      <p:sp>
        <p:nvSpPr>
          <p:cNvPr id="25" name="Text 23"/>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10</a:t>
            </a:r>
            <a:endParaRPr lang="en-US" sz="900" dirty="0"/>
          </a:p>
        </p:txBody>
      </p:sp>
      <p:sp>
        <p:nvSpPr>
          <p:cNvPr id="26" name="Text 24"/>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DC2626"/>
          </a:solidFill>
          <a:ln w="12700">
            <a:solidFill>
              <a:srgbClr val="DC2626"/>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DC2626"/>
                </a:solidFill>
                <a:latin typeface="Calibri" pitchFamily="34" charset="0"/>
                <a:ea typeface="Calibri" pitchFamily="34" charset="-122"/>
                <a:cs typeface="Calibri" pitchFamily="34" charset="-120"/>
              </a:rPr>
              <a:t>PHASE 2  ·  WEEK 5</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The Scaling Wall</a:t>
            </a:r>
            <a:endParaRPr lang="en-US" sz="3600" dirty="0"/>
          </a:p>
        </p:txBody>
      </p:sp>
      <p:sp>
        <p:nvSpPr>
          <p:cNvPr id="5" name="Shape 3"/>
          <p:cNvSpPr/>
          <p:nvPr/>
        </p:nvSpPr>
        <p:spPr>
          <a:xfrm>
            <a:off x="457200" y="1828800"/>
            <a:ext cx="5486400" cy="1828800"/>
          </a:xfrm>
          <a:prstGeom prst="rect">
            <a:avLst/>
          </a:prstGeom>
          <a:solidFill>
            <a:srgbClr val="FEF2F2"/>
          </a:solidFill>
          <a:ln w="25400">
            <a:solidFill>
              <a:srgbClr val="DC2626"/>
            </a:solidFill>
            <a:prstDash val="solid"/>
          </a:ln>
        </p:spPr>
      </p:sp>
      <p:sp>
        <p:nvSpPr>
          <p:cNvPr id="6" name="Text 4"/>
          <p:cNvSpPr/>
          <p:nvPr/>
        </p:nvSpPr>
        <p:spPr>
          <a:xfrm>
            <a:off x="640080" y="2011680"/>
            <a:ext cx="5120640" cy="365760"/>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  CONVERSATION LENGTH IS LIMITED</a:t>
            </a:r>
            <a:endParaRPr lang="en-US" sz="1400" dirty="0"/>
          </a:p>
        </p:txBody>
      </p:sp>
      <p:sp>
        <p:nvSpPr>
          <p:cNvPr id="7" name="Text 5"/>
          <p:cNvSpPr/>
          <p:nvPr/>
        </p:nvSpPr>
        <p:spPr>
          <a:xfrm>
            <a:off x="640080" y="2468880"/>
            <a:ext cx="5120640" cy="1097280"/>
          </a:xfrm>
          <a:prstGeom prst="rect">
            <a:avLst/>
          </a:prstGeom>
          <a:noFill/>
          <a:ln/>
        </p:spPr>
        <p:txBody>
          <a:bodyPr wrap="square" rtlCol="0" anchor="t"/>
          <a:lstStyle/>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The LLM stopped remembering my project around week 5.</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It invented functions. It re-introduced fixed bugs.</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It re-architected against the original design.</a:t>
            </a:r>
            <a:endParaRPr lang="en-US" sz="1400" dirty="0"/>
          </a:p>
        </p:txBody>
      </p:sp>
      <p:sp>
        <p:nvSpPr>
          <p:cNvPr id="8" name="Text 6"/>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THE WHACK-A-MOLE WEEK</a:t>
            </a:r>
            <a:endParaRPr lang="en-US" sz="1100" dirty="0"/>
          </a:p>
        </p:txBody>
      </p:sp>
      <p:sp>
        <p:nvSpPr>
          <p:cNvPr id="9" name="Text 7"/>
          <p:cNvSpPr/>
          <p:nvPr/>
        </p:nvSpPr>
        <p:spPr>
          <a:xfrm>
            <a:off x="457200" y="4251960"/>
            <a:ext cx="5486400" cy="1645920"/>
          </a:xfrm>
          <a:prstGeom prst="rect">
            <a:avLst/>
          </a:prstGeom>
          <a:noFill/>
          <a:ln/>
        </p:spPr>
        <p:txBody>
          <a:bodyPr wrap="square"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Fix risk manager</a:t>
            </a:r>
            <a:endParaRPr lang="en-US" sz="1400" dirty="0"/>
          </a:p>
          <a:p>
            <a:pPr indent="0" marL="0">
              <a:buNone/>
            </a:pPr>
            <a:r>
              <a:rPr lang="en-US" sz="1300" dirty="0">
                <a:solidFill>
                  <a:srgbClr val="DC2626"/>
                </a:solidFill>
                <a:latin typeface="Calibri" pitchFamily="34" charset="0"/>
                <a:ea typeface="Calibri" pitchFamily="34" charset="-122"/>
                <a:cs typeface="Calibri" pitchFamily="34" charset="-120"/>
              </a:rPr>
              <a:t>  → executor regressed
</a:t>
            </a:r>
            <a:endParaRPr lang="en-US" sz="1400" dirty="0"/>
          </a:p>
          <a:p>
            <a:pPr indent="0" marL="0">
              <a:buNone/>
            </a:pPr>
            <a:r>
              <a:rPr lang="en-US" sz="1400" b="1" dirty="0">
                <a:solidFill>
                  <a:srgbClr val="1E293B"/>
                </a:solidFill>
                <a:latin typeface="Calibri" pitchFamily="34" charset="0"/>
                <a:ea typeface="Calibri" pitchFamily="34" charset="-122"/>
                <a:cs typeface="Calibri" pitchFamily="34" charset="-120"/>
              </a:rPr>
              <a:t>Update executor</a:t>
            </a:r>
            <a:endParaRPr lang="en-US" sz="1400" dirty="0"/>
          </a:p>
          <a:p>
            <a:pPr indent="0" marL="0">
              <a:buNone/>
            </a:pPr>
            <a:r>
              <a:rPr lang="en-US" sz="1300" dirty="0">
                <a:solidFill>
                  <a:srgbClr val="DC2626"/>
                </a:solidFill>
                <a:latin typeface="Calibri" pitchFamily="34" charset="0"/>
                <a:ea typeface="Calibri" pitchFamily="34" charset="-122"/>
                <a:cs typeface="Calibri" pitchFamily="34" charset="-120"/>
              </a:rPr>
              <a:t>  → dashboard went blank
</a:t>
            </a:r>
            <a:endParaRPr lang="en-US" sz="1400" dirty="0"/>
          </a:p>
          <a:p>
            <a:pPr indent="0" marL="0">
              <a:buNone/>
            </a:pPr>
            <a:r>
              <a:rPr lang="en-US" sz="1400" b="1" dirty="0">
                <a:solidFill>
                  <a:srgbClr val="1E293B"/>
                </a:solidFill>
                <a:latin typeface="Calibri" pitchFamily="34" charset="0"/>
                <a:ea typeface="Calibri" pitchFamily="34" charset="-122"/>
                <a:cs typeface="Calibri" pitchFamily="34" charset="-120"/>
              </a:rPr>
              <a:t>Update dashboard</a:t>
            </a:r>
            <a:endParaRPr lang="en-US" sz="1400" dirty="0"/>
          </a:p>
          <a:p>
            <a:pPr indent="0" marL="0">
              <a:buNone/>
            </a:pPr>
            <a:r>
              <a:rPr lang="en-US" sz="1300" dirty="0">
                <a:solidFill>
                  <a:srgbClr val="DC2626"/>
                </a:solidFill>
                <a:latin typeface="Calibri" pitchFamily="34" charset="0"/>
                <a:ea typeface="Calibri" pitchFamily="34" charset="-122"/>
                <a:cs typeface="Calibri" pitchFamily="34" charset="-120"/>
              </a:rPr>
              <a:t>  → journal parser broke</a:t>
            </a:r>
            <a:endParaRPr lang="en-US" sz="1400" dirty="0"/>
          </a:p>
        </p:txBody>
      </p:sp>
      <p:sp>
        <p:nvSpPr>
          <p:cNvPr id="10" name="Shape 8"/>
          <p:cNvSpPr/>
          <p:nvPr/>
        </p:nvSpPr>
        <p:spPr>
          <a:xfrm>
            <a:off x="6217920" y="1828800"/>
            <a:ext cx="5486400" cy="4114800"/>
          </a:xfrm>
          <a:prstGeom prst="rect">
            <a:avLst/>
          </a:prstGeom>
          <a:solidFill>
            <a:srgbClr val="FFFFFF"/>
          </a:solidFill>
          <a:ln w="12700">
            <a:solidFill>
              <a:srgbClr val="CBD5E1"/>
            </a:solidFill>
            <a:prstDash val="solid"/>
          </a:ln>
        </p:spPr>
      </p:sp>
      <p:sp>
        <p:nvSpPr>
          <p:cNvPr id="11" name="Text 9"/>
          <p:cNvSpPr/>
          <p:nvPr/>
        </p:nvSpPr>
        <p:spPr>
          <a:xfrm>
            <a:off x="6400800" y="1965960"/>
            <a:ext cx="512064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CROSSOVER</a:t>
            </a:r>
            <a:endParaRPr lang="en-US" sz="1000" dirty="0"/>
          </a:p>
        </p:txBody>
      </p:sp>
      <p:graphicFrame>
        <p:nvGraphicFramePr>
          <p:cNvPr id="12" name="Chart 0" descr=""/>
          <p:cNvGraphicFramePr/>
          <p:nvPr/>
        </p:nvGraphicFramePr>
        <p:xfrm>
          <a:off x="6400800" y="233172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6400800" y="5623560"/>
            <a:ext cx="5120640" cy="274320"/>
          </a:xfrm>
          <a:prstGeom prst="rect">
            <a:avLst/>
          </a:prstGeom>
          <a:noFill/>
          <a:ln/>
        </p:spPr>
        <p:txBody>
          <a:bodyPr wrap="square" lIns="0" tIns="0" rIns="0" bIns="0" rtlCol="0" anchor="ctr"/>
          <a:lstStyle/>
          <a:p>
            <a:pPr algn="ctr" indent="0" marL="0">
              <a:buNone/>
            </a:pPr>
            <a:r>
              <a:rPr lang="en-US" sz="1300" b="1" i="1" dirty="0">
                <a:solidFill>
                  <a:srgbClr val="DC2626"/>
                </a:solidFill>
                <a:latin typeface="Calibri" pitchFamily="34" charset="0"/>
                <a:ea typeface="Calibri" pitchFamily="34" charset="-122"/>
                <a:cs typeface="Calibri" pitchFamily="34" charset="-120"/>
              </a:rPr>
              <a:t>Chat history is not architecture.</a:t>
            </a:r>
            <a:endParaRPr lang="en-US" sz="1300" dirty="0"/>
          </a:p>
        </p:txBody>
      </p:sp>
      <p:sp>
        <p:nvSpPr>
          <p:cNvPr id="14" name="Text 11"/>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10</a:t>
            </a:r>
            <a:endParaRPr lang="en-US" sz="900" dirty="0"/>
          </a:p>
        </p:txBody>
      </p:sp>
      <p:sp>
        <p:nvSpPr>
          <p:cNvPr id="15" name="Text 12"/>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59E0B"/>
          </a:solidFill>
          <a:ln w="12700">
            <a:solidFill>
              <a:srgbClr val="F59E0B"/>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3  ·  THE PIVOT</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Skills as Atomic Specs</a:t>
            </a:r>
            <a:endParaRPr lang="en-US" sz="3600" dirty="0"/>
          </a:p>
        </p:txBody>
      </p:sp>
      <p:sp>
        <p:nvSpPr>
          <p:cNvPr id="5" name="Shape 3"/>
          <p:cNvSpPr/>
          <p:nvPr/>
        </p:nvSpPr>
        <p:spPr>
          <a:xfrm>
            <a:off x="457200" y="1828800"/>
            <a:ext cx="5486400" cy="3931920"/>
          </a:xfrm>
          <a:prstGeom prst="rect">
            <a:avLst/>
          </a:prstGeom>
          <a:solidFill>
            <a:srgbClr val="FFFFFF"/>
          </a:solidFill>
          <a:ln w="12700">
            <a:solidFill>
              <a:srgbClr val="CBD5E1"/>
            </a:solidFill>
            <a:prstDash val="solid"/>
          </a:ln>
        </p:spPr>
      </p:sp>
      <p:sp>
        <p:nvSpPr>
          <p:cNvPr id="6" name="Text 4"/>
          <p:cNvSpPr/>
          <p:nvPr/>
        </p:nvSpPr>
        <p:spPr>
          <a:xfrm>
            <a:off x="640080" y="1965960"/>
            <a:ext cx="5120640" cy="27432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BEFORE  ·  knowledge in chat history</a:t>
            </a:r>
            <a:endParaRPr lang="en-US" sz="1000" dirty="0"/>
          </a:p>
        </p:txBody>
      </p:sp>
      <p:sp>
        <p:nvSpPr>
          <p:cNvPr id="7" name="Text 5"/>
          <p:cNvSpPr/>
          <p:nvPr/>
        </p:nvSpPr>
        <p:spPr>
          <a:xfrm>
            <a:off x="640080" y="2331720"/>
            <a:ext cx="5120640" cy="3200400"/>
          </a:xfrm>
          <a:prstGeom prst="rect">
            <a:avLst/>
          </a:prstGeom>
          <a:noFill/>
          <a:ln/>
        </p:spPr>
        <p:txBody>
          <a:bodyPr wrap="square" rtlCol="0" anchor="t"/>
          <a:lstStyle/>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trading-agent/</a:t>
            </a: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  trading_agent/</a:t>
            </a: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  tests/</a:t>
            </a: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  README.md</a:t>
            </a:r>
            <a:endParaRPr lang="en-US" sz="1400" dirty="0"/>
          </a:p>
          <a:p>
            <a:pPr indent="0" marL="0">
              <a:spcAft>
                <a:spcPts val="200"/>
              </a:spcAft>
              <a:buNone/>
            </a:pP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(...architectural knowledge</a:t>
            </a: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    lives in a Claude tab</a:t>
            </a:r>
            <a:endParaRPr lang="en-US" sz="1400" dirty="0"/>
          </a:p>
          <a:p>
            <a:pPr indent="0" marL="0">
              <a:spcAft>
                <a:spcPts val="200"/>
              </a:spcAft>
              <a:buNone/>
            </a:pPr>
            <a:r>
              <a:rPr lang="en-US" sz="1400" dirty="0">
                <a:solidFill>
                  <a:srgbClr val="1E293B"/>
                </a:solidFill>
                <a:latin typeface="Courier New" pitchFamily="34" charset="0"/>
                <a:ea typeface="Courier New" pitchFamily="34" charset="-122"/>
                <a:cs typeface="Courier New" pitchFamily="34" charset="-120"/>
              </a:rPr>
              <a:t>    you'll eventually close)</a:t>
            </a:r>
            <a:endParaRPr lang="en-US" sz="1400" dirty="0"/>
          </a:p>
        </p:txBody>
      </p:sp>
      <p:sp>
        <p:nvSpPr>
          <p:cNvPr id="8" name="Shape 6"/>
          <p:cNvSpPr/>
          <p:nvPr/>
        </p:nvSpPr>
        <p:spPr>
          <a:xfrm>
            <a:off x="6217920" y="1828800"/>
            <a:ext cx="5486400" cy="3931920"/>
          </a:xfrm>
          <a:prstGeom prst="rect">
            <a:avLst/>
          </a:prstGeom>
          <a:solidFill>
            <a:srgbClr val="1E293B"/>
          </a:solidFill>
          <a:ln w="25400">
            <a:solidFill>
              <a:srgbClr val="0D9488"/>
            </a:solidFill>
            <a:prstDash val="solid"/>
          </a:ln>
        </p:spPr>
      </p:sp>
      <p:sp>
        <p:nvSpPr>
          <p:cNvPr id="9" name="Text 7"/>
          <p:cNvSpPr/>
          <p:nvPr/>
        </p:nvSpPr>
        <p:spPr>
          <a:xfrm>
            <a:off x="6400800" y="1965960"/>
            <a:ext cx="5120640" cy="274320"/>
          </a:xfrm>
          <a:prstGeom prst="rect">
            <a:avLst/>
          </a:prstGeom>
          <a:noFill/>
          <a:ln/>
        </p:spPr>
        <p:txBody>
          <a:bodyPr wrap="square" lIns="0" tIns="0" rIns="0" bIns="0" rtlCol="0" anchor="ctr"/>
          <a:lstStyle/>
          <a:p>
            <a:pPr indent="0" marL="0">
              <a:buNone/>
            </a:pPr>
            <a:r>
              <a:rPr lang="en-US" sz="1000" b="1" spc="300" kern="0" dirty="0">
                <a:solidFill>
                  <a:srgbClr val="5EEAD4"/>
                </a:solidFill>
                <a:latin typeface="Calibri" pitchFamily="34" charset="0"/>
                <a:ea typeface="Calibri" pitchFamily="34" charset="-122"/>
                <a:cs typeface="Calibri" pitchFamily="34" charset="-120"/>
              </a:rPr>
              <a:t>AFTER  ·  knowledge on disk, atomic, versioned</a:t>
            </a:r>
            <a:endParaRPr lang="en-US" sz="1000" dirty="0"/>
          </a:p>
        </p:txBody>
      </p:sp>
      <p:sp>
        <p:nvSpPr>
          <p:cNvPr id="10" name="Text 8"/>
          <p:cNvSpPr/>
          <p:nvPr/>
        </p:nvSpPr>
        <p:spPr>
          <a:xfrm>
            <a:off x="6400800" y="2331720"/>
            <a:ext cx="5120640" cy="3337560"/>
          </a:xfrm>
          <a:prstGeom prst="rect">
            <a:avLst/>
          </a:prstGeom>
          <a:noFill/>
          <a:ln/>
        </p:spPr>
        <p:txBody>
          <a:bodyPr wrap="square" rtlCol="0" anchor="t"/>
          <a:lstStyle/>
          <a:p>
            <a:pPr indent="0" marL="0">
              <a:buNone/>
            </a:pPr>
            <a:r>
              <a:rPr lang="en-US" sz="1300" dirty="0">
                <a:solidFill>
                  <a:srgbClr val="F8FAFC"/>
                </a:solidFill>
                <a:latin typeface="Courier New" pitchFamily="34" charset="0"/>
                <a:ea typeface="Courier New" pitchFamily="34" charset="-122"/>
                <a:cs typeface="Courier New" pitchFamily="34" charset="-120"/>
              </a:rPr>
              <a:t>trading-agent/
</a:t>
            </a:r>
            <a:endParaRPr lang="en-US" sz="1300" dirty="0"/>
          </a:p>
          <a:p>
            <a:pPr indent="0" marL="0">
              <a:buNone/>
            </a:pPr>
            <a:r>
              <a:rPr lang="en-US" sz="1300" dirty="0">
                <a:solidFill>
                  <a:srgbClr val="F8FAFC"/>
                </a:solidFill>
                <a:latin typeface="Courier New" pitchFamily="34" charset="0"/>
                <a:ea typeface="Courier New" pitchFamily="34" charset="-122"/>
                <a:cs typeface="Courier New" pitchFamily="34" charset="-120"/>
              </a:rPr>
              <a:t>  PROJECT_MANIFEST.md   </a:t>
            </a:r>
            <a:pPr indent="0" marL="0">
              <a:buNone/>
            </a:pPr>
            <a:r>
              <a:rPr lang="en-US" sz="1100" i="1" dirty="0">
                <a:solidFill>
                  <a:srgbClr val="64748B"/>
                </a:solidFill>
                <a:latin typeface="Courier New" pitchFamily="34" charset="0"/>
                <a:ea typeface="Courier New" pitchFamily="34" charset="-122"/>
                <a:cs typeface="Courier New" pitchFamily="34" charset="-120"/>
              </a:rPr>
              <a:t>handoff brief
</a:t>
            </a:r>
            <a:endParaRPr lang="en-US" sz="1300" dirty="0"/>
          </a:p>
          <a:p>
            <a:pPr indent="0" marL="0">
              <a:buNone/>
            </a:pPr>
            <a:r>
              <a:rPr lang="en-US" sz="1300" dirty="0">
                <a:solidFill>
                  <a:srgbClr val="F8FAFC"/>
                </a:solidFill>
                <a:latin typeface="Courier New" pitchFamily="34" charset="0"/>
                <a:ea typeface="Courier New" pitchFamily="34" charset="-122"/>
                <a:cs typeface="Courier New" pitchFamily="34" charset="-120"/>
              </a:rPr>
              <a:t>  CLAUDE.md             </a:t>
            </a:r>
            <a:pPr indent="0" marL="0">
              <a:buNone/>
            </a:pPr>
            <a:r>
              <a:rPr lang="en-US" sz="1100" i="1" dirty="0">
                <a:solidFill>
                  <a:srgbClr val="64748B"/>
                </a:solidFill>
                <a:latin typeface="Courier New" pitchFamily="34" charset="0"/>
                <a:ea typeface="Courier New" pitchFamily="34" charset="-122"/>
                <a:cs typeface="Courier New" pitchFamily="34" charset="-120"/>
              </a:rPr>
              <a:t>SDLC + invariants
</a:t>
            </a:r>
            <a:endParaRPr lang="en-US" sz="1300" dirty="0"/>
          </a:p>
          <a:p>
            <a:pPr indent="0" marL="0">
              <a:buNone/>
            </a:pPr>
            <a:r>
              <a:rPr lang="en-US" sz="1300" b="1" dirty="0">
                <a:solidFill>
                  <a:srgbClr val="5EEAD4"/>
                </a:solidFill>
                <a:latin typeface="Courier New" pitchFamily="34" charset="0"/>
                <a:ea typeface="Courier New" pitchFamily="34" charset="-122"/>
                <a:cs typeface="Courier New" pitchFamily="34" charset="-120"/>
              </a:rPr>
              <a:t>  docs/skills/
</a:t>
            </a:r>
            <a:endParaRPr lang="en-US" sz="1300" dirty="0"/>
          </a:p>
          <a:p>
            <a:pPr indent="0" marL="0">
              <a:buNone/>
            </a:pPr>
            <a:r>
              <a:rPr lang="en-US" sz="1300" dirty="0">
                <a:solidFill>
                  <a:srgbClr val="F8FAFC"/>
                </a:solidFill>
                <a:latin typeface="Courier New" pitchFamily="34" charset="0"/>
                <a:ea typeface="Courier New" pitchFamily="34" charset="-122"/>
                <a:cs typeface="Courier New" pitchFamily="34" charset="-120"/>
              </a:rPr>
              <a:t>      01_pop_from_delta.md
</a:t>
            </a:r>
            <a:endParaRPr lang="en-US" sz="1300" dirty="0"/>
          </a:p>
          <a:p>
            <a:pPr indent="0" marL="0">
              <a:buNone/>
            </a:pPr>
            <a:r>
              <a:rPr lang="en-US" sz="1300" dirty="0">
                <a:solidFill>
                  <a:srgbClr val="F8FAFC"/>
                </a:solidFill>
                <a:latin typeface="Courier New" pitchFamily="34" charset="0"/>
                <a:ea typeface="Courier New" pitchFamily="34" charset="-122"/>
                <a:cs typeface="Courier New" pitchFamily="34" charset="-120"/>
              </a:rPr>
              <a:t>      03_credit_to_width_floor.md
</a:t>
            </a:r>
            <a:endParaRPr lang="en-US" sz="1300" dirty="0"/>
          </a:p>
          <a:p>
            <a:pPr indent="0" marL="0">
              <a:buNone/>
            </a:pPr>
            <a:r>
              <a:rPr lang="en-US" sz="1300" dirty="0">
                <a:solidFill>
                  <a:srgbClr val="F8FAFC"/>
                </a:solidFill>
                <a:latin typeface="Courier New" pitchFamily="34" charset="0"/>
                <a:ea typeface="Courier New" pitchFamily="34" charset="-122"/>
                <a:cs typeface="Courier New" pitchFamily="34" charset="-120"/>
              </a:rPr>
              <a:t>      17_close_failure_and_cooldown.md
</a:t>
            </a:r>
            <a:endParaRPr lang="en-US" sz="1300" dirty="0"/>
          </a:p>
          <a:p>
            <a:pPr indent="0" marL="0">
              <a:buNone/>
            </a:pPr>
            <a:r>
              <a:rPr lang="en-US" sz="1300" i="1" dirty="0">
                <a:solidFill>
                  <a:srgbClr val="64748B"/>
                </a:solidFill>
                <a:latin typeface="Courier New" pitchFamily="34" charset="0"/>
                <a:ea typeface="Courier New" pitchFamily="34" charset="-122"/>
                <a:cs typeface="Courier New" pitchFamily="34" charset="-120"/>
              </a:rPr>
              <a:t>      ... 22 atomic concepts in total</a:t>
            </a:r>
            <a:endParaRPr lang="en-US" sz="1300" dirty="0"/>
          </a:p>
        </p:txBody>
      </p:sp>
      <p:sp>
        <p:nvSpPr>
          <p:cNvPr id="11" name="Shape 9"/>
          <p:cNvSpPr/>
          <p:nvPr/>
        </p:nvSpPr>
        <p:spPr>
          <a:xfrm>
            <a:off x="457200" y="5852160"/>
            <a:ext cx="11247120" cy="457200"/>
          </a:xfrm>
          <a:prstGeom prst="rect">
            <a:avLst/>
          </a:prstGeom>
          <a:solidFill>
            <a:srgbClr val="0D9488">
              <a:alpha val="10000"/>
            </a:srgbClr>
          </a:solidFill>
          <a:ln w="12700">
            <a:solidFill>
              <a:srgbClr val="0D9488"/>
            </a:solidFill>
            <a:prstDash val="solid"/>
          </a:ln>
        </p:spPr>
      </p:sp>
      <p:sp>
        <p:nvSpPr>
          <p:cNvPr id="12" name="Text 10"/>
          <p:cNvSpPr/>
          <p:nvPr/>
        </p:nvSpPr>
        <p:spPr>
          <a:xfrm>
            <a:off x="640080" y="5870448"/>
            <a:ext cx="10972800" cy="41148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The unlock:  </a:t>
            </a:r>
            <a:pPr indent="0" marL="0">
              <a:buNone/>
            </a:pPr>
            <a:r>
              <a:rPr lang="en-US" sz="1400" dirty="0">
                <a:solidFill>
                  <a:srgbClr val="1E293B"/>
                </a:solidFill>
                <a:latin typeface="Calibri" pitchFamily="34" charset="0"/>
                <a:ea typeface="Calibri" pitchFamily="34" charset="-122"/>
                <a:cs typeface="Calibri" pitchFamily="34" charset="-120"/>
              </a:rPr>
              <a:t>swap LLMs mid-project without re-explaining. Claude for logic, Gemini for breadth, Qwen for speed.</a:t>
            </a:r>
            <a:endParaRPr lang="en-US" sz="1400" dirty="0"/>
          </a:p>
        </p:txBody>
      </p:sp>
      <p:sp>
        <p:nvSpPr>
          <p:cNvPr id="13" name="Text 11"/>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10</a:t>
            </a:r>
            <a:endParaRPr lang="en-US" sz="900" dirty="0"/>
          </a:p>
        </p:txBody>
      </p:sp>
      <p:sp>
        <p:nvSpPr>
          <p:cNvPr id="14" name="Text 12"/>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59E0B"/>
          </a:solidFill>
          <a:ln w="12700">
            <a:solidFill>
              <a:srgbClr val="F59E0B"/>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PHASE 3.5  ·  THE TRAP</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Specs Without Tests Are Just Prose</a:t>
            </a:r>
            <a:endParaRPr lang="en-US" sz="3600" dirty="0"/>
          </a:p>
        </p:txBody>
      </p:sp>
      <p:sp>
        <p:nvSpPr>
          <p:cNvPr id="5" name="Shape 3"/>
          <p:cNvSpPr/>
          <p:nvPr/>
        </p:nvSpPr>
        <p:spPr>
          <a:xfrm>
            <a:off x="1371600" y="2103120"/>
            <a:ext cx="9418320" cy="548640"/>
          </a:xfrm>
          <a:prstGeom prst="rect">
            <a:avLst/>
          </a:prstGeom>
          <a:solidFill>
            <a:srgbClr val="0D9488"/>
          </a:solidFill>
          <a:ln w="12700">
            <a:solidFill>
              <a:srgbClr val="0D9488"/>
            </a:solidFill>
            <a:prstDash val="solid"/>
          </a:ln>
        </p:spPr>
      </p:sp>
      <p:sp>
        <p:nvSpPr>
          <p:cNvPr id="6" name="Text 4"/>
          <p:cNvSpPr/>
          <p:nvPr/>
        </p:nvSpPr>
        <p:spPr>
          <a:xfrm>
            <a:off x="1371600" y="2103120"/>
            <a:ext cx="9418320" cy="54864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Wrote a feature.  Wrote the skill.  Felt good.</a:t>
            </a:r>
            <a:endParaRPr lang="en-US" sz="1400" dirty="0"/>
          </a:p>
        </p:txBody>
      </p:sp>
      <p:sp>
        <p:nvSpPr>
          <p:cNvPr id="7" name="Shape 5"/>
          <p:cNvSpPr/>
          <p:nvPr/>
        </p:nvSpPr>
        <p:spPr>
          <a:xfrm>
            <a:off x="1828800" y="2880360"/>
            <a:ext cx="8503920" cy="548640"/>
          </a:xfrm>
          <a:prstGeom prst="rect">
            <a:avLst/>
          </a:prstGeom>
          <a:solidFill>
            <a:srgbClr val="F59E0B">
              <a:alpha val="85000"/>
            </a:srgbClr>
          </a:solidFill>
          <a:ln w="12700">
            <a:solidFill>
              <a:srgbClr val="F59E0B"/>
            </a:solidFill>
            <a:prstDash val="solid"/>
          </a:ln>
        </p:spPr>
      </p:sp>
      <p:sp>
        <p:nvSpPr>
          <p:cNvPr id="8" name="Text 6"/>
          <p:cNvSpPr/>
          <p:nvPr/>
        </p:nvSpPr>
        <p:spPr>
          <a:xfrm>
            <a:off x="1828800" y="2880360"/>
            <a:ext cx="8503920" cy="54864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No conformance test pins the spec.</a:t>
            </a:r>
            <a:endParaRPr lang="en-US" sz="1400" dirty="0"/>
          </a:p>
        </p:txBody>
      </p:sp>
      <p:sp>
        <p:nvSpPr>
          <p:cNvPr id="9" name="Shape 7"/>
          <p:cNvSpPr/>
          <p:nvPr/>
        </p:nvSpPr>
        <p:spPr>
          <a:xfrm>
            <a:off x="2286000" y="3611880"/>
            <a:ext cx="7589520" cy="548640"/>
          </a:xfrm>
          <a:prstGeom prst="rect">
            <a:avLst/>
          </a:prstGeom>
          <a:solidFill>
            <a:srgbClr val="F59E0B">
              <a:alpha val="85000"/>
            </a:srgbClr>
          </a:solidFill>
          <a:ln w="12700">
            <a:solidFill>
              <a:srgbClr val="F59E0B"/>
            </a:solidFill>
            <a:prstDash val="solid"/>
          </a:ln>
        </p:spPr>
      </p:sp>
      <p:sp>
        <p:nvSpPr>
          <p:cNvPr id="10" name="Text 8"/>
          <p:cNvSpPr/>
          <p:nvPr/>
        </p:nvSpPr>
        <p:spPr>
          <a:xfrm>
            <a:off x="2286000" y="3611880"/>
            <a:ext cx="7589520" cy="54864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Skill drifted as the source changed.</a:t>
            </a:r>
            <a:endParaRPr lang="en-US" sz="1400" dirty="0"/>
          </a:p>
        </p:txBody>
      </p:sp>
      <p:sp>
        <p:nvSpPr>
          <p:cNvPr id="11" name="Shape 9"/>
          <p:cNvSpPr/>
          <p:nvPr/>
        </p:nvSpPr>
        <p:spPr>
          <a:xfrm>
            <a:off x="2743200" y="4343400"/>
            <a:ext cx="6675120" cy="548640"/>
          </a:xfrm>
          <a:prstGeom prst="rect">
            <a:avLst/>
          </a:prstGeom>
          <a:solidFill>
            <a:srgbClr val="DC2626">
              <a:alpha val="85000"/>
            </a:srgbClr>
          </a:solidFill>
          <a:ln w="12700">
            <a:solidFill>
              <a:srgbClr val="DC2626"/>
            </a:solidFill>
            <a:prstDash val="solid"/>
          </a:ln>
        </p:spPr>
      </p:sp>
      <p:sp>
        <p:nvSpPr>
          <p:cNvPr id="12" name="Text 10"/>
          <p:cNvSpPr/>
          <p:nvPr/>
        </p:nvSpPr>
        <p:spPr>
          <a:xfrm>
            <a:off x="2743200" y="4343400"/>
            <a:ext cx="6675120" cy="54864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Ghost code: modules with no spec, no use.</a:t>
            </a:r>
            <a:endParaRPr lang="en-US" sz="1400" dirty="0"/>
          </a:p>
        </p:txBody>
      </p:sp>
      <p:sp>
        <p:nvSpPr>
          <p:cNvPr id="13" name="Shape 11"/>
          <p:cNvSpPr/>
          <p:nvPr/>
        </p:nvSpPr>
        <p:spPr>
          <a:xfrm>
            <a:off x="3200400" y="5074920"/>
            <a:ext cx="5760720" cy="548640"/>
          </a:xfrm>
          <a:prstGeom prst="rect">
            <a:avLst/>
          </a:prstGeom>
          <a:solidFill>
            <a:srgbClr val="DC2626">
              <a:alpha val="85000"/>
            </a:srgbClr>
          </a:solidFill>
          <a:ln w="12700">
            <a:solidFill>
              <a:srgbClr val="DC2626"/>
            </a:solidFill>
            <a:prstDash val="solid"/>
          </a:ln>
        </p:spPr>
      </p:sp>
      <p:sp>
        <p:nvSpPr>
          <p:cNvPr id="14" name="Text 12"/>
          <p:cNvSpPr/>
          <p:nvPr/>
        </p:nvSpPr>
        <p:spPr>
          <a:xfrm>
            <a:off x="3200400" y="5074920"/>
            <a:ext cx="5760720" cy="54864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Nothing forced a spec update before commit.</a:t>
            </a:r>
            <a:endParaRPr lang="en-US" sz="1400" dirty="0"/>
          </a:p>
        </p:txBody>
      </p:sp>
      <p:sp>
        <p:nvSpPr>
          <p:cNvPr id="15" name="Text 13"/>
          <p:cNvSpPr/>
          <p:nvPr/>
        </p:nvSpPr>
        <p:spPr>
          <a:xfrm>
            <a:off x="457200" y="5852160"/>
            <a:ext cx="11247120" cy="365760"/>
          </a:xfrm>
          <a:prstGeom prst="rect">
            <a:avLst/>
          </a:prstGeom>
          <a:noFill/>
          <a:ln/>
        </p:spPr>
        <p:txBody>
          <a:bodyPr wrap="square" lIns="0" tIns="0" rIns="0" bIns="0" rtlCol="0" anchor="ctr"/>
          <a:lstStyle/>
          <a:p>
            <a:pPr algn="ctr" indent="0" marL="0">
              <a:buNone/>
            </a:pPr>
            <a:r>
              <a:rPr lang="en-US" sz="1600" b="1" i="1" dirty="0">
                <a:solidFill>
                  <a:srgbClr val="DC2626"/>
                </a:solidFill>
                <a:latin typeface="Calibri" pitchFamily="34" charset="0"/>
                <a:ea typeface="Calibri" pitchFamily="34" charset="-122"/>
                <a:cs typeface="Calibri" pitchFamily="34" charset="-120"/>
              </a:rPr>
              <a:t>The skill said one thing.  The code did another.  Nobody checked.</a:t>
            </a:r>
            <a:endParaRPr lang="en-US" sz="1600" dirty="0"/>
          </a:p>
        </p:txBody>
      </p:sp>
      <p:sp>
        <p:nvSpPr>
          <p:cNvPr id="16" name="Text 14"/>
          <p:cNvSpPr/>
          <p:nvPr/>
        </p:nvSpPr>
        <p:spPr>
          <a:xfrm>
            <a:off x="457200" y="6217920"/>
            <a:ext cx="1124712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This is exactly what produced the GLD bug you saw on slide 1.</a:t>
            </a:r>
            <a:endParaRPr lang="en-US" sz="1200" dirty="0"/>
          </a:p>
        </p:txBody>
      </p:sp>
      <p:sp>
        <p:nvSpPr>
          <p:cNvPr id="17" name="Text 15"/>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10</a:t>
            </a:r>
            <a:endParaRPr lang="en-US" sz="900" dirty="0"/>
          </a:p>
        </p:txBody>
      </p:sp>
      <p:sp>
        <p:nvSpPr>
          <p:cNvPr id="18" name="Text 16"/>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0D9488"/>
          </a:solidFill>
          <a:ln w="12700">
            <a:solidFill>
              <a:srgbClr val="0D9488"/>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PHASE 4  ·  THE INVERSION</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Full Spec-Driven Development</a:t>
            </a:r>
            <a:endParaRPr lang="en-US" sz="3600" dirty="0"/>
          </a:p>
        </p:txBody>
      </p:sp>
      <p:sp>
        <p:nvSpPr>
          <p:cNvPr id="5" name="Shape 3"/>
          <p:cNvSpPr/>
          <p:nvPr/>
        </p:nvSpPr>
        <p:spPr>
          <a:xfrm>
            <a:off x="457200" y="1783080"/>
            <a:ext cx="11247120" cy="777240"/>
          </a:xfrm>
          <a:prstGeom prst="rect">
            <a:avLst/>
          </a:prstGeom>
          <a:solidFill>
            <a:srgbClr val="FEF2F2"/>
          </a:solidFill>
          <a:ln w="12700">
            <a:solidFill>
              <a:srgbClr val="DC2626"/>
            </a:solidFill>
            <a:prstDash val="solid"/>
          </a:ln>
        </p:spPr>
      </p:sp>
      <p:sp>
        <p:nvSpPr>
          <p:cNvPr id="6" name="Text 4"/>
          <p:cNvSpPr/>
          <p:nvPr/>
        </p:nvSpPr>
        <p:spPr>
          <a:xfrm>
            <a:off x="640080" y="1874520"/>
            <a:ext cx="1097280" cy="32004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BEFORE</a:t>
            </a:r>
            <a:endParaRPr lang="en-US" sz="1000" dirty="0"/>
          </a:p>
        </p:txBody>
      </p:sp>
      <p:sp>
        <p:nvSpPr>
          <p:cNvPr id="7" name="Text 5"/>
          <p:cNvSpPr/>
          <p:nvPr/>
        </p:nvSpPr>
        <p:spPr>
          <a:xfrm>
            <a:off x="1828800" y="1874520"/>
            <a:ext cx="9601200" cy="640080"/>
          </a:xfrm>
          <a:prstGeom prst="rect">
            <a:avLst/>
          </a:prstGeom>
          <a:noFill/>
          <a:ln/>
        </p:spPr>
        <p:txBody>
          <a:bodyPr wrap="square" lIns="0" tIns="0" rIns="0" bIns="0" rtlCol="0" anchor="ctr"/>
          <a:lstStyle/>
          <a:p>
            <a:pPr indent="0" marL="0">
              <a:buNone/>
            </a:pPr>
            <a:r>
              <a:rPr lang="en-US" sz="2000" strike="sngStrike" dirty="0">
                <a:solidFill>
                  <a:srgbClr val="DC2626"/>
                </a:solidFill>
                <a:latin typeface="Calibri" pitchFamily="34" charset="0"/>
                <a:ea typeface="Calibri" pitchFamily="34" charset="-122"/>
                <a:cs typeface="Calibri" pitchFamily="34" charset="-120"/>
              </a:rPr>
              <a:t>Idea  →  Code  →  (Sometimes) Docs  →  Tests Retrofitted</a:t>
            </a:r>
            <a:endParaRPr lang="en-US" sz="2000" dirty="0"/>
          </a:p>
        </p:txBody>
      </p:sp>
      <p:sp>
        <p:nvSpPr>
          <p:cNvPr id="8" name="Shape 6"/>
          <p:cNvSpPr/>
          <p:nvPr/>
        </p:nvSpPr>
        <p:spPr>
          <a:xfrm>
            <a:off x="457200" y="2697480"/>
            <a:ext cx="11247120" cy="868680"/>
          </a:xfrm>
          <a:prstGeom prst="rect">
            <a:avLst/>
          </a:prstGeom>
          <a:solidFill>
            <a:srgbClr val="F0FDFA"/>
          </a:solidFill>
          <a:ln w="25400">
            <a:solidFill>
              <a:srgbClr val="0D9488"/>
            </a:solidFill>
            <a:prstDash val="solid"/>
          </a:ln>
        </p:spPr>
      </p:sp>
      <p:sp>
        <p:nvSpPr>
          <p:cNvPr id="9" name="Text 7"/>
          <p:cNvSpPr/>
          <p:nvPr/>
        </p:nvSpPr>
        <p:spPr>
          <a:xfrm>
            <a:off x="640080" y="2788920"/>
            <a:ext cx="1097280" cy="32004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AFTER</a:t>
            </a:r>
            <a:endParaRPr lang="en-US" sz="1000" dirty="0"/>
          </a:p>
        </p:txBody>
      </p:sp>
      <p:sp>
        <p:nvSpPr>
          <p:cNvPr id="10" name="Text 8"/>
          <p:cNvSpPr/>
          <p:nvPr/>
        </p:nvSpPr>
        <p:spPr>
          <a:xfrm>
            <a:off x="1828800" y="2788920"/>
            <a:ext cx="9601200" cy="73152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Idea  →  </a:t>
            </a:r>
            <a:pPr indent="0" marL="0">
              <a:buNone/>
            </a:pPr>
            <a:r>
              <a:rPr lang="en-US" sz="1600" b="1" dirty="0">
                <a:solidFill>
                  <a:srgbClr val="0D9488"/>
                </a:solidFill>
                <a:latin typeface="Calibri" pitchFamily="34" charset="0"/>
                <a:ea typeface="Calibri" pitchFamily="34" charset="-122"/>
                <a:cs typeface="Calibri" pitchFamily="34" charset="-120"/>
              </a:rPr>
              <a:t>Spec</a:t>
            </a:r>
            <a:pPr indent="0" marL="0">
              <a:buNone/>
            </a:pPr>
            <a:r>
              <a:rPr lang="en-US" sz="1600" dirty="0">
                <a:solidFill>
                  <a:srgbClr val="1E293B"/>
                </a:solidFill>
                <a:latin typeface="Calibri" pitchFamily="34" charset="0"/>
                <a:ea typeface="Calibri" pitchFamily="34" charset="-122"/>
                <a:cs typeface="Calibri" pitchFamily="34" charset="-120"/>
              </a:rPr>
              <a:t>  →  </a:t>
            </a:r>
            <a:pPr indent="0" marL="0">
              <a:buNone/>
            </a:pPr>
            <a:r>
              <a:rPr lang="en-US" sz="1600" b="1" dirty="0">
                <a:solidFill>
                  <a:srgbClr val="0D9488"/>
                </a:solidFill>
                <a:latin typeface="Calibri" pitchFamily="34" charset="0"/>
                <a:ea typeface="Calibri" pitchFamily="34" charset="-122"/>
                <a:cs typeface="Calibri" pitchFamily="34" charset="-120"/>
              </a:rPr>
              <a:t>Failing Test</a:t>
            </a:r>
            <a:pPr indent="0" marL="0">
              <a:buNone/>
            </a:pPr>
            <a:r>
              <a:rPr lang="en-US" sz="1600" dirty="0">
                <a:solidFill>
                  <a:srgbClr val="1E293B"/>
                </a:solidFill>
                <a:latin typeface="Calibri" pitchFamily="34" charset="0"/>
                <a:ea typeface="Calibri" pitchFamily="34" charset="-122"/>
                <a:cs typeface="Calibri" pitchFamily="34" charset="-120"/>
              </a:rPr>
              <a:t>  →  Code that makes the test pass  →  Re-stamp footer  →  </a:t>
            </a:r>
            <a:pPr indent="0" marL="0">
              <a:buNone/>
            </a:pPr>
            <a:r>
              <a:rPr lang="en-US" sz="1600" b="1" dirty="0">
                <a:solidFill>
                  <a:srgbClr val="0D9488"/>
                </a:solidFill>
                <a:latin typeface="Calibri" pitchFamily="34" charset="0"/>
                <a:ea typeface="Calibri" pitchFamily="34" charset="-122"/>
                <a:cs typeface="Calibri" pitchFamily="34" charset="-120"/>
              </a:rPr>
              <a:t>CI verifies all three agree</a:t>
            </a:r>
            <a:endParaRPr lang="en-US" sz="1600" dirty="0"/>
          </a:p>
        </p:txBody>
      </p:sp>
      <p:sp>
        <p:nvSpPr>
          <p:cNvPr id="11" name="Text 9"/>
          <p:cNvSpPr/>
          <p:nvPr/>
        </p:nvSpPr>
        <p:spPr>
          <a:xfrm>
            <a:off x="457200" y="3794760"/>
            <a:ext cx="11247120"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FIVE CI GATES NOW ENFORCE THIS</a:t>
            </a:r>
            <a:endParaRPr lang="en-US" sz="1100" dirty="0"/>
          </a:p>
        </p:txBody>
      </p:sp>
      <p:sp>
        <p:nvSpPr>
          <p:cNvPr id="12" name="Shape 10"/>
          <p:cNvSpPr/>
          <p:nvPr/>
        </p:nvSpPr>
        <p:spPr>
          <a:xfrm>
            <a:off x="457200" y="4160520"/>
            <a:ext cx="2212848" cy="1783080"/>
          </a:xfrm>
          <a:prstGeom prst="rect">
            <a:avLst/>
          </a:prstGeom>
          <a:solidFill>
            <a:srgbClr val="FFFFFF"/>
          </a:solidFill>
          <a:ln w="12700">
            <a:solidFill>
              <a:srgbClr val="0D9488"/>
            </a:solidFill>
            <a:prstDash val="solid"/>
          </a:ln>
        </p:spPr>
      </p:sp>
      <p:sp>
        <p:nvSpPr>
          <p:cNvPr id="13" name="Shape 11"/>
          <p:cNvSpPr/>
          <p:nvPr/>
        </p:nvSpPr>
        <p:spPr>
          <a:xfrm>
            <a:off x="594360" y="4297680"/>
            <a:ext cx="365760" cy="365760"/>
          </a:xfrm>
          <a:prstGeom prst="ellipse">
            <a:avLst/>
          </a:prstGeom>
          <a:solidFill>
            <a:srgbClr val="0D9488"/>
          </a:solidFill>
          <a:ln w="12700">
            <a:solidFill>
              <a:srgbClr val="0D9488"/>
            </a:solidFill>
            <a:prstDash val="solid"/>
          </a:ln>
        </p:spPr>
      </p:sp>
      <p:sp>
        <p:nvSpPr>
          <p:cNvPr id="14" name="Text 12"/>
          <p:cNvSpPr/>
          <p:nvPr/>
        </p:nvSpPr>
        <p:spPr>
          <a:xfrm>
            <a:off x="594360" y="4297680"/>
            <a:ext cx="365760" cy="36576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1</a:t>
            </a:r>
            <a:endParaRPr lang="en-US" sz="1400" dirty="0"/>
          </a:p>
        </p:txBody>
      </p:sp>
      <p:sp>
        <p:nvSpPr>
          <p:cNvPr id="15" name="Text 13"/>
          <p:cNvSpPr/>
          <p:nvPr/>
        </p:nvSpPr>
        <p:spPr>
          <a:xfrm>
            <a:off x="1051560" y="4297680"/>
            <a:ext cx="1527048"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Invariants</a:t>
            </a:r>
            <a:endParaRPr lang="en-US" sz="1400" dirty="0"/>
          </a:p>
        </p:txBody>
      </p:sp>
      <p:sp>
        <p:nvSpPr>
          <p:cNvPr id="16" name="Text 14"/>
          <p:cNvSpPr/>
          <p:nvPr/>
        </p:nvSpPr>
        <p:spPr>
          <a:xfrm>
            <a:off x="594360" y="4754880"/>
            <a:ext cx="1938528" cy="320040"/>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scan_invariant_check</a:t>
            </a:r>
            <a:endParaRPr lang="en-US" sz="1000" dirty="0"/>
          </a:p>
        </p:txBody>
      </p:sp>
      <p:sp>
        <p:nvSpPr>
          <p:cNvPr id="17" name="Text 15"/>
          <p:cNvSpPr/>
          <p:nvPr/>
        </p:nvSpPr>
        <p:spPr>
          <a:xfrm>
            <a:off x="594360" y="5120640"/>
            <a:ext cx="1938528" cy="77724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AST-level architectural rules</a:t>
            </a:r>
            <a:endParaRPr lang="en-US" sz="1100" dirty="0"/>
          </a:p>
        </p:txBody>
      </p:sp>
      <p:sp>
        <p:nvSpPr>
          <p:cNvPr id="18" name="Shape 16"/>
          <p:cNvSpPr/>
          <p:nvPr/>
        </p:nvSpPr>
        <p:spPr>
          <a:xfrm>
            <a:off x="2734056" y="4160520"/>
            <a:ext cx="2212848" cy="1783080"/>
          </a:xfrm>
          <a:prstGeom prst="rect">
            <a:avLst/>
          </a:prstGeom>
          <a:solidFill>
            <a:srgbClr val="FFFFFF"/>
          </a:solidFill>
          <a:ln w="12700">
            <a:solidFill>
              <a:srgbClr val="0D9488"/>
            </a:solidFill>
            <a:prstDash val="solid"/>
          </a:ln>
        </p:spPr>
      </p:sp>
      <p:sp>
        <p:nvSpPr>
          <p:cNvPr id="19" name="Shape 17"/>
          <p:cNvSpPr/>
          <p:nvPr/>
        </p:nvSpPr>
        <p:spPr>
          <a:xfrm>
            <a:off x="2871216" y="4297680"/>
            <a:ext cx="365760" cy="365760"/>
          </a:xfrm>
          <a:prstGeom prst="ellipse">
            <a:avLst/>
          </a:prstGeom>
          <a:solidFill>
            <a:srgbClr val="0D9488"/>
          </a:solidFill>
          <a:ln w="12700">
            <a:solidFill>
              <a:srgbClr val="0D9488"/>
            </a:solidFill>
            <a:prstDash val="solid"/>
          </a:ln>
        </p:spPr>
      </p:sp>
      <p:sp>
        <p:nvSpPr>
          <p:cNvPr id="20" name="Text 18"/>
          <p:cNvSpPr/>
          <p:nvPr/>
        </p:nvSpPr>
        <p:spPr>
          <a:xfrm>
            <a:off x="2871216" y="4297680"/>
            <a:ext cx="365760" cy="36576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2</a:t>
            </a:r>
            <a:endParaRPr lang="en-US" sz="1400" dirty="0"/>
          </a:p>
        </p:txBody>
      </p:sp>
      <p:sp>
        <p:nvSpPr>
          <p:cNvPr id="21" name="Text 19"/>
          <p:cNvSpPr/>
          <p:nvPr/>
        </p:nvSpPr>
        <p:spPr>
          <a:xfrm>
            <a:off x="3328416" y="4297680"/>
            <a:ext cx="1527048"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Quote-match</a:t>
            </a:r>
            <a:endParaRPr lang="en-US" sz="1400" dirty="0"/>
          </a:p>
        </p:txBody>
      </p:sp>
      <p:sp>
        <p:nvSpPr>
          <p:cNvPr id="22" name="Text 20"/>
          <p:cNvSpPr/>
          <p:nvPr/>
        </p:nvSpPr>
        <p:spPr>
          <a:xfrm>
            <a:off x="2871216" y="4754880"/>
            <a:ext cx="1938528" cy="320040"/>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scan_skill_quotes_match</a:t>
            </a:r>
            <a:endParaRPr lang="en-US" sz="1000" dirty="0"/>
          </a:p>
        </p:txBody>
      </p:sp>
      <p:sp>
        <p:nvSpPr>
          <p:cNvPr id="23" name="Text 21"/>
          <p:cNvSpPr/>
          <p:nvPr/>
        </p:nvSpPr>
        <p:spPr>
          <a:xfrm>
            <a:off x="2871216" y="5120640"/>
            <a:ext cx="1938528" cy="77724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Skill §3 lines still in source</a:t>
            </a:r>
            <a:endParaRPr lang="en-US" sz="1100" dirty="0"/>
          </a:p>
        </p:txBody>
      </p:sp>
      <p:sp>
        <p:nvSpPr>
          <p:cNvPr id="24" name="Shape 22"/>
          <p:cNvSpPr/>
          <p:nvPr/>
        </p:nvSpPr>
        <p:spPr>
          <a:xfrm>
            <a:off x="5010912" y="4160520"/>
            <a:ext cx="2212848" cy="1783080"/>
          </a:xfrm>
          <a:prstGeom prst="rect">
            <a:avLst/>
          </a:prstGeom>
          <a:solidFill>
            <a:srgbClr val="FFFFFF"/>
          </a:solidFill>
          <a:ln w="12700">
            <a:solidFill>
              <a:srgbClr val="0D9488"/>
            </a:solidFill>
            <a:prstDash val="solid"/>
          </a:ln>
        </p:spPr>
      </p:sp>
      <p:sp>
        <p:nvSpPr>
          <p:cNvPr id="25" name="Shape 23"/>
          <p:cNvSpPr/>
          <p:nvPr/>
        </p:nvSpPr>
        <p:spPr>
          <a:xfrm>
            <a:off x="5148072" y="4297680"/>
            <a:ext cx="365760" cy="365760"/>
          </a:xfrm>
          <a:prstGeom prst="ellipse">
            <a:avLst/>
          </a:prstGeom>
          <a:solidFill>
            <a:srgbClr val="0D9488"/>
          </a:solidFill>
          <a:ln w="12700">
            <a:solidFill>
              <a:srgbClr val="0D9488"/>
            </a:solidFill>
            <a:prstDash val="solid"/>
          </a:ln>
        </p:spPr>
      </p:sp>
      <p:sp>
        <p:nvSpPr>
          <p:cNvPr id="26" name="Text 24"/>
          <p:cNvSpPr/>
          <p:nvPr/>
        </p:nvSpPr>
        <p:spPr>
          <a:xfrm>
            <a:off x="5148072" y="4297680"/>
            <a:ext cx="365760" cy="36576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5605272" y="4297680"/>
            <a:ext cx="1527048"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Freshness</a:t>
            </a:r>
            <a:endParaRPr lang="en-US" sz="1400" dirty="0"/>
          </a:p>
        </p:txBody>
      </p:sp>
      <p:sp>
        <p:nvSpPr>
          <p:cNvPr id="28" name="Text 26"/>
          <p:cNvSpPr/>
          <p:nvPr/>
        </p:nvSpPr>
        <p:spPr>
          <a:xfrm>
            <a:off x="5148072" y="4754880"/>
            <a:ext cx="1938528" cy="320040"/>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scan_skill_freshness</a:t>
            </a:r>
            <a:endParaRPr lang="en-US" sz="1000" dirty="0"/>
          </a:p>
        </p:txBody>
      </p:sp>
      <p:sp>
        <p:nvSpPr>
          <p:cNvPr id="29" name="Text 27"/>
          <p:cNvSpPr/>
          <p:nvPr/>
        </p:nvSpPr>
        <p:spPr>
          <a:xfrm>
            <a:off x="5148072" y="5120640"/>
            <a:ext cx="1938528" cy="77724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Footer date ≥ source mtime</a:t>
            </a:r>
            <a:endParaRPr lang="en-US" sz="1100" dirty="0"/>
          </a:p>
        </p:txBody>
      </p:sp>
      <p:sp>
        <p:nvSpPr>
          <p:cNvPr id="30" name="Shape 28"/>
          <p:cNvSpPr/>
          <p:nvPr/>
        </p:nvSpPr>
        <p:spPr>
          <a:xfrm>
            <a:off x="7287768" y="4160520"/>
            <a:ext cx="2212848" cy="1783080"/>
          </a:xfrm>
          <a:prstGeom prst="rect">
            <a:avLst/>
          </a:prstGeom>
          <a:solidFill>
            <a:srgbClr val="FFFFFF"/>
          </a:solidFill>
          <a:ln w="12700">
            <a:solidFill>
              <a:srgbClr val="0D9488"/>
            </a:solidFill>
            <a:prstDash val="solid"/>
          </a:ln>
        </p:spPr>
      </p:sp>
      <p:sp>
        <p:nvSpPr>
          <p:cNvPr id="31" name="Shape 29"/>
          <p:cNvSpPr/>
          <p:nvPr/>
        </p:nvSpPr>
        <p:spPr>
          <a:xfrm>
            <a:off x="7424928" y="4297680"/>
            <a:ext cx="365760" cy="365760"/>
          </a:xfrm>
          <a:prstGeom prst="ellipse">
            <a:avLst/>
          </a:prstGeom>
          <a:solidFill>
            <a:srgbClr val="0D9488"/>
          </a:solidFill>
          <a:ln w="12700">
            <a:solidFill>
              <a:srgbClr val="0D9488"/>
            </a:solidFill>
            <a:prstDash val="solid"/>
          </a:ln>
        </p:spPr>
      </p:sp>
      <p:sp>
        <p:nvSpPr>
          <p:cNvPr id="32" name="Text 30"/>
          <p:cNvSpPr/>
          <p:nvPr/>
        </p:nvSpPr>
        <p:spPr>
          <a:xfrm>
            <a:off x="7424928" y="4297680"/>
            <a:ext cx="365760" cy="36576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4</a:t>
            </a:r>
            <a:endParaRPr lang="en-US" sz="1400" dirty="0"/>
          </a:p>
        </p:txBody>
      </p:sp>
      <p:sp>
        <p:nvSpPr>
          <p:cNvPr id="33" name="Text 31"/>
          <p:cNvSpPr/>
          <p:nvPr/>
        </p:nvSpPr>
        <p:spPr>
          <a:xfrm>
            <a:off x="7882128" y="4297680"/>
            <a:ext cx="1527048"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Traceability</a:t>
            </a:r>
            <a:endParaRPr lang="en-US" sz="1400" dirty="0"/>
          </a:p>
        </p:txBody>
      </p:sp>
      <p:sp>
        <p:nvSpPr>
          <p:cNvPr id="34" name="Text 32"/>
          <p:cNvSpPr/>
          <p:nvPr/>
        </p:nvSpPr>
        <p:spPr>
          <a:xfrm>
            <a:off x="7424928" y="4754880"/>
            <a:ext cx="1938528" cy="320040"/>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build_traceability</a:t>
            </a:r>
            <a:endParaRPr lang="en-US" sz="1000" dirty="0"/>
          </a:p>
        </p:txBody>
      </p:sp>
      <p:sp>
        <p:nvSpPr>
          <p:cNvPr id="35" name="Text 33"/>
          <p:cNvSpPr/>
          <p:nvPr/>
        </p:nvSpPr>
        <p:spPr>
          <a:xfrm>
            <a:off x="7424928" y="5120640"/>
            <a:ext cx="1938528" cy="77724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Coverage matrix kept in sync</a:t>
            </a:r>
            <a:endParaRPr lang="en-US" sz="1100" dirty="0"/>
          </a:p>
        </p:txBody>
      </p:sp>
      <p:sp>
        <p:nvSpPr>
          <p:cNvPr id="36" name="Shape 34"/>
          <p:cNvSpPr/>
          <p:nvPr/>
        </p:nvSpPr>
        <p:spPr>
          <a:xfrm>
            <a:off x="9564624" y="4160520"/>
            <a:ext cx="2212848" cy="1783080"/>
          </a:xfrm>
          <a:prstGeom prst="rect">
            <a:avLst/>
          </a:prstGeom>
          <a:solidFill>
            <a:srgbClr val="FFFFFF"/>
          </a:solidFill>
          <a:ln w="12700">
            <a:solidFill>
              <a:srgbClr val="0D9488"/>
            </a:solidFill>
            <a:prstDash val="solid"/>
          </a:ln>
        </p:spPr>
      </p:sp>
      <p:sp>
        <p:nvSpPr>
          <p:cNvPr id="37" name="Shape 35"/>
          <p:cNvSpPr/>
          <p:nvPr/>
        </p:nvSpPr>
        <p:spPr>
          <a:xfrm>
            <a:off x="9701784" y="4297680"/>
            <a:ext cx="365760" cy="365760"/>
          </a:xfrm>
          <a:prstGeom prst="ellipse">
            <a:avLst/>
          </a:prstGeom>
          <a:solidFill>
            <a:srgbClr val="0D9488"/>
          </a:solidFill>
          <a:ln w="12700">
            <a:solidFill>
              <a:srgbClr val="0D9488"/>
            </a:solidFill>
            <a:prstDash val="solid"/>
          </a:ln>
        </p:spPr>
      </p:sp>
      <p:sp>
        <p:nvSpPr>
          <p:cNvPr id="38" name="Text 36"/>
          <p:cNvSpPr/>
          <p:nvPr/>
        </p:nvSpPr>
        <p:spPr>
          <a:xfrm>
            <a:off x="9701784" y="4297680"/>
            <a:ext cx="365760" cy="365760"/>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5</a:t>
            </a:r>
            <a:endParaRPr lang="en-US" sz="1400" dirty="0"/>
          </a:p>
        </p:txBody>
      </p:sp>
      <p:sp>
        <p:nvSpPr>
          <p:cNvPr id="39" name="Text 37"/>
          <p:cNvSpPr/>
          <p:nvPr/>
        </p:nvSpPr>
        <p:spPr>
          <a:xfrm>
            <a:off x="10158984" y="4297680"/>
            <a:ext cx="1527048"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Conformance</a:t>
            </a:r>
            <a:endParaRPr lang="en-US" sz="1400" dirty="0"/>
          </a:p>
        </p:txBody>
      </p:sp>
      <p:sp>
        <p:nvSpPr>
          <p:cNvPr id="40" name="Text 38"/>
          <p:cNvSpPr/>
          <p:nvPr/>
        </p:nvSpPr>
        <p:spPr>
          <a:xfrm>
            <a:off x="9701784" y="4754880"/>
            <a:ext cx="1938528" cy="320040"/>
          </a:xfrm>
          <a:prstGeom prst="rect">
            <a:avLst/>
          </a:prstGeom>
          <a:noFill/>
          <a:ln/>
        </p:spPr>
        <p:txBody>
          <a:bodyPr wrap="square" lIns="0" tIns="0" rIns="0" bIns="0" rtlCol="0" anchor="t"/>
          <a:lstStyle/>
          <a:p>
            <a:pPr indent="0" marL="0">
              <a:buNone/>
            </a:pPr>
            <a:r>
              <a:rPr lang="en-US" sz="1000" dirty="0">
                <a:solidFill>
                  <a:srgbClr val="64748B"/>
                </a:solidFill>
                <a:latin typeface="Courier New" pitchFamily="34" charset="0"/>
                <a:ea typeface="Courier New" pitchFamily="34" charset="-122"/>
                <a:cs typeface="Courier New" pitchFamily="34" charset="-120"/>
              </a:rPr>
              <a:t>pytest tests/conformance</a:t>
            </a:r>
            <a:endParaRPr lang="en-US" sz="1000" dirty="0"/>
          </a:p>
        </p:txBody>
      </p:sp>
      <p:sp>
        <p:nvSpPr>
          <p:cNvPr id="41" name="Text 39"/>
          <p:cNvSpPr/>
          <p:nvPr/>
        </p:nvSpPr>
        <p:spPr>
          <a:xfrm>
            <a:off x="9701784" y="5120640"/>
            <a:ext cx="1938528" cy="77724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Documented behavior asserted</a:t>
            </a:r>
            <a:endParaRPr lang="en-US" sz="1100" dirty="0"/>
          </a:p>
        </p:txBody>
      </p:sp>
      <p:sp>
        <p:nvSpPr>
          <p:cNvPr id="42" name="Text 40"/>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10</a:t>
            </a:r>
            <a:endParaRPr lang="en-US" sz="900" dirty="0"/>
          </a:p>
        </p:txBody>
      </p:sp>
      <p:sp>
        <p:nvSpPr>
          <p:cNvPr id="43" name="Text 41"/>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0D9488"/>
          </a:solidFill>
          <a:ln w="12700">
            <a:solidFill>
              <a:srgbClr val="0D9488"/>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WHAT YOU CAN TAKE HOME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Five Scripts.  ~1,200 lines.  Stdlib + pytest.</a:t>
            </a:r>
            <a:endParaRPr lang="en-US" sz="3600" dirty="0"/>
          </a:p>
        </p:txBody>
      </p:sp>
      <p:sp>
        <p:nvSpPr>
          <p:cNvPr id="5" name="Shape 3"/>
          <p:cNvSpPr/>
          <p:nvPr/>
        </p:nvSpPr>
        <p:spPr>
          <a:xfrm>
            <a:off x="457200" y="1874520"/>
            <a:ext cx="5486400" cy="1828800"/>
          </a:xfrm>
          <a:prstGeom prst="rect">
            <a:avLst/>
          </a:prstGeom>
          <a:solidFill>
            <a:srgbClr val="FFFFFF"/>
          </a:solidFill>
          <a:ln w="12700">
            <a:solidFill>
              <a:srgbClr val="CBD5E1"/>
            </a:solidFill>
            <a:prstDash val="solid"/>
          </a:ln>
        </p:spPr>
      </p:sp>
      <p:sp>
        <p:nvSpPr>
          <p:cNvPr id="6" name="Shape 4"/>
          <p:cNvSpPr/>
          <p:nvPr/>
        </p:nvSpPr>
        <p:spPr>
          <a:xfrm>
            <a:off x="457200" y="1874520"/>
            <a:ext cx="109728" cy="1828800"/>
          </a:xfrm>
          <a:prstGeom prst="rect">
            <a:avLst/>
          </a:prstGeom>
          <a:solidFill>
            <a:srgbClr val="0D9488"/>
          </a:solidFill>
          <a:ln w="12700">
            <a:solidFill>
              <a:srgbClr val="0D9488"/>
            </a:solidFill>
            <a:prstDash val="solid"/>
          </a:ln>
        </p:spPr>
      </p:sp>
      <p:sp>
        <p:nvSpPr>
          <p:cNvPr id="7" name="Text 5"/>
          <p:cNvSpPr/>
          <p:nvPr/>
        </p:nvSpPr>
        <p:spPr>
          <a:xfrm>
            <a:off x="731520" y="2011680"/>
            <a:ext cx="5029200" cy="365760"/>
          </a:xfrm>
          <a:prstGeom prst="rect">
            <a:avLst/>
          </a:prstGeom>
          <a:noFill/>
          <a:ln/>
        </p:spPr>
        <p:txBody>
          <a:bodyPr wrap="square" lIns="0" tIns="0" rIns="0" bIns="0" rtlCol="0" anchor="ctr"/>
          <a:lstStyle/>
          <a:p>
            <a:pPr indent="0" marL="0">
              <a:buNone/>
            </a:pPr>
            <a:r>
              <a:rPr lang="en-US" sz="1600" b="1" dirty="0">
                <a:solidFill>
                  <a:srgbClr val="1E293B"/>
                </a:solidFill>
                <a:latin typeface="Courier New" pitchFamily="34" charset="0"/>
                <a:ea typeface="Courier New" pitchFamily="34" charset="-122"/>
                <a:cs typeface="Courier New" pitchFamily="34" charset="-120"/>
              </a:rPr>
              <a:t>specify_new_feature.py</a:t>
            </a:r>
            <a:endParaRPr lang="en-US" sz="1600" dirty="0"/>
          </a:p>
        </p:txBody>
      </p:sp>
      <p:sp>
        <p:nvSpPr>
          <p:cNvPr id="8" name="Text 6"/>
          <p:cNvSpPr/>
          <p:nvPr/>
        </p:nvSpPr>
        <p:spPr>
          <a:xfrm>
            <a:off x="731520" y="2377440"/>
            <a:ext cx="5029200" cy="50292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Scaffolds skill + failing conformance test. Forces spec-first SDLC.</a:t>
            </a:r>
            <a:endParaRPr lang="en-US" sz="1200" dirty="0"/>
          </a:p>
        </p:txBody>
      </p:sp>
      <p:sp>
        <p:nvSpPr>
          <p:cNvPr id="9" name="Shape 7"/>
          <p:cNvSpPr/>
          <p:nvPr/>
        </p:nvSpPr>
        <p:spPr>
          <a:xfrm>
            <a:off x="731520" y="2926080"/>
            <a:ext cx="4937760" cy="640080"/>
          </a:xfrm>
          <a:prstGeom prst="rect">
            <a:avLst/>
          </a:prstGeom>
          <a:solidFill>
            <a:srgbClr val="1E293B"/>
          </a:solidFill>
          <a:ln w="12700">
            <a:solidFill>
              <a:srgbClr val="1E293B"/>
            </a:solidFill>
            <a:prstDash val="solid"/>
          </a:ln>
        </p:spPr>
      </p:sp>
      <p:sp>
        <p:nvSpPr>
          <p:cNvPr id="10" name="Text 8"/>
          <p:cNvSpPr/>
          <p:nvPr/>
        </p:nvSpPr>
        <p:spPr>
          <a:xfrm>
            <a:off x="822960" y="2971800"/>
            <a:ext cx="4754880" cy="548640"/>
          </a:xfrm>
          <a:prstGeom prst="rect">
            <a:avLst/>
          </a:prstGeom>
          <a:noFill/>
          <a:ln/>
        </p:spPr>
        <p:txBody>
          <a:bodyPr wrap="square" lIns="0" tIns="0" rIns="0" bIns="0" rtlCol="0" anchor="ctr"/>
          <a:lstStyle/>
          <a:p>
            <a:pPr indent="0" marL="0">
              <a:buNone/>
            </a:pPr>
            <a:r>
              <a:rPr lang="en-US" sz="1000" dirty="0">
                <a:solidFill>
                  <a:srgbClr val="5EEAD4"/>
                </a:solidFill>
                <a:latin typeface="Courier New" pitchFamily="34" charset="0"/>
                <a:ea typeface="Courier New" pitchFamily="34" charset="-122"/>
                <a:cs typeface="Courier New" pitchFamily="34" charset="-120"/>
              </a:rPr>
              <a:t>$ python3 specify_new_feature.py rsi-strategy-gate</a:t>
            </a:r>
            <a:endParaRPr lang="en-US" sz="1000" dirty="0"/>
          </a:p>
          <a:p>
            <a:pPr indent="0" marL="0">
              <a:buNone/>
            </a:pPr>
            <a:r>
              <a:rPr lang="en-US" sz="1000" dirty="0">
                <a:solidFill>
                  <a:srgbClr val="5EEAD4"/>
                </a:solidFill>
                <a:latin typeface="Courier New" pitchFamily="34" charset="0"/>
                <a:ea typeface="Courier New" pitchFamily="34" charset="-122"/>
                <a:cs typeface="Courier New" pitchFamily="34" charset="-120"/>
              </a:rPr>
              <a:t>Created skill 30 + test stub</a:t>
            </a:r>
            <a:endParaRPr lang="en-US" sz="1000" dirty="0"/>
          </a:p>
        </p:txBody>
      </p:sp>
      <p:sp>
        <p:nvSpPr>
          <p:cNvPr id="11" name="Shape 9"/>
          <p:cNvSpPr/>
          <p:nvPr/>
        </p:nvSpPr>
        <p:spPr>
          <a:xfrm>
            <a:off x="6217920" y="1874520"/>
            <a:ext cx="5486400" cy="1828800"/>
          </a:xfrm>
          <a:prstGeom prst="rect">
            <a:avLst/>
          </a:prstGeom>
          <a:solidFill>
            <a:srgbClr val="FFFFFF"/>
          </a:solidFill>
          <a:ln w="12700">
            <a:solidFill>
              <a:srgbClr val="CBD5E1"/>
            </a:solidFill>
            <a:prstDash val="solid"/>
          </a:ln>
        </p:spPr>
      </p:sp>
      <p:sp>
        <p:nvSpPr>
          <p:cNvPr id="12" name="Shape 10"/>
          <p:cNvSpPr/>
          <p:nvPr/>
        </p:nvSpPr>
        <p:spPr>
          <a:xfrm>
            <a:off x="6217920" y="1874520"/>
            <a:ext cx="109728" cy="1828800"/>
          </a:xfrm>
          <a:prstGeom prst="rect">
            <a:avLst/>
          </a:prstGeom>
          <a:solidFill>
            <a:srgbClr val="16A34A"/>
          </a:solidFill>
          <a:ln w="12700">
            <a:solidFill>
              <a:srgbClr val="16A34A"/>
            </a:solidFill>
            <a:prstDash val="solid"/>
          </a:ln>
        </p:spPr>
      </p:sp>
      <p:sp>
        <p:nvSpPr>
          <p:cNvPr id="13" name="Text 11"/>
          <p:cNvSpPr/>
          <p:nvPr/>
        </p:nvSpPr>
        <p:spPr>
          <a:xfrm>
            <a:off x="6492240" y="2011680"/>
            <a:ext cx="5029200" cy="365760"/>
          </a:xfrm>
          <a:prstGeom prst="rect">
            <a:avLst/>
          </a:prstGeom>
          <a:noFill/>
          <a:ln/>
        </p:spPr>
        <p:txBody>
          <a:bodyPr wrap="square" lIns="0" tIns="0" rIns="0" bIns="0" rtlCol="0" anchor="ctr"/>
          <a:lstStyle/>
          <a:p>
            <a:pPr indent="0" marL="0">
              <a:buNone/>
            </a:pPr>
            <a:r>
              <a:rPr lang="en-US" sz="1600" b="1" dirty="0">
                <a:solidFill>
                  <a:srgbClr val="1E293B"/>
                </a:solidFill>
                <a:latin typeface="Courier New" pitchFamily="34" charset="0"/>
                <a:ea typeface="Courier New" pitchFamily="34" charset="-122"/>
                <a:cs typeface="Courier New" pitchFamily="34" charset="-120"/>
              </a:rPr>
              <a:t>scan_skill_freshness.py</a:t>
            </a:r>
            <a:endParaRPr lang="en-US" sz="1600" dirty="0"/>
          </a:p>
        </p:txBody>
      </p:sp>
      <p:sp>
        <p:nvSpPr>
          <p:cNvPr id="14" name="Text 12"/>
          <p:cNvSpPr/>
          <p:nvPr/>
        </p:nvSpPr>
        <p:spPr>
          <a:xfrm>
            <a:off x="6492240" y="2377440"/>
            <a:ext cx="5029200" cy="50292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Compares each skill's footer date vs. git-mtime of cited source.</a:t>
            </a:r>
            <a:endParaRPr lang="en-US" sz="1200" dirty="0"/>
          </a:p>
        </p:txBody>
      </p:sp>
      <p:sp>
        <p:nvSpPr>
          <p:cNvPr id="15" name="Shape 13"/>
          <p:cNvSpPr/>
          <p:nvPr/>
        </p:nvSpPr>
        <p:spPr>
          <a:xfrm>
            <a:off x="6492240" y="2926080"/>
            <a:ext cx="4937760" cy="640080"/>
          </a:xfrm>
          <a:prstGeom prst="rect">
            <a:avLst/>
          </a:prstGeom>
          <a:solidFill>
            <a:srgbClr val="1E293B"/>
          </a:solidFill>
          <a:ln w="12700">
            <a:solidFill>
              <a:srgbClr val="1E293B"/>
            </a:solidFill>
            <a:prstDash val="solid"/>
          </a:ln>
        </p:spPr>
      </p:sp>
      <p:sp>
        <p:nvSpPr>
          <p:cNvPr id="16" name="Text 14"/>
          <p:cNvSpPr/>
          <p:nvPr/>
        </p:nvSpPr>
        <p:spPr>
          <a:xfrm>
            <a:off x="6583680" y="2971800"/>
            <a:ext cx="4754880" cy="548640"/>
          </a:xfrm>
          <a:prstGeom prst="rect">
            <a:avLst/>
          </a:prstGeom>
          <a:noFill/>
          <a:ln/>
        </p:spPr>
        <p:txBody>
          <a:bodyPr wrap="square" lIns="0" tIns="0" rIns="0" bIns="0" rtlCol="0" anchor="ctr"/>
          <a:lstStyle/>
          <a:p>
            <a:pPr indent="0" marL="0">
              <a:buNone/>
            </a:pPr>
            <a:r>
              <a:rPr lang="en-US" sz="1000" dirty="0">
                <a:solidFill>
                  <a:srgbClr val="5EEAD4"/>
                </a:solidFill>
                <a:latin typeface="Courier New" pitchFamily="34" charset="0"/>
                <a:ea typeface="Courier New" pitchFamily="34" charset="-122"/>
                <a:cs typeface="Courier New" pitchFamily="34" charset="-120"/>
              </a:rPr>
              <a:t>OK  All 34 (skill, source)</a:t>
            </a:r>
            <a:endParaRPr lang="en-US" sz="1000" dirty="0"/>
          </a:p>
          <a:p>
            <a:pPr indent="0" marL="0">
              <a:buNone/>
            </a:pPr>
            <a:r>
              <a:rPr lang="en-US" sz="1000" dirty="0">
                <a:solidFill>
                  <a:srgbClr val="5EEAD4"/>
                </a:solidFill>
                <a:latin typeface="Courier New" pitchFamily="34" charset="0"/>
                <a:ea typeface="Courier New" pitchFamily="34" charset="-122"/>
                <a:cs typeface="Courier New" pitchFamily="34" charset="-120"/>
              </a:rPr>
              <a:t>      pairs are fresh.</a:t>
            </a:r>
            <a:endParaRPr lang="en-US" sz="1000" dirty="0"/>
          </a:p>
        </p:txBody>
      </p:sp>
      <p:sp>
        <p:nvSpPr>
          <p:cNvPr id="17" name="Shape 15"/>
          <p:cNvSpPr/>
          <p:nvPr/>
        </p:nvSpPr>
        <p:spPr>
          <a:xfrm>
            <a:off x="457200" y="3977640"/>
            <a:ext cx="5486400" cy="1828800"/>
          </a:xfrm>
          <a:prstGeom prst="rect">
            <a:avLst/>
          </a:prstGeom>
          <a:solidFill>
            <a:srgbClr val="FFFFFF"/>
          </a:solidFill>
          <a:ln w="12700">
            <a:solidFill>
              <a:srgbClr val="CBD5E1"/>
            </a:solidFill>
            <a:prstDash val="solid"/>
          </a:ln>
        </p:spPr>
      </p:sp>
      <p:sp>
        <p:nvSpPr>
          <p:cNvPr id="18" name="Shape 16"/>
          <p:cNvSpPr/>
          <p:nvPr/>
        </p:nvSpPr>
        <p:spPr>
          <a:xfrm>
            <a:off x="457200" y="3977640"/>
            <a:ext cx="109728" cy="1828800"/>
          </a:xfrm>
          <a:prstGeom prst="rect">
            <a:avLst/>
          </a:prstGeom>
          <a:solidFill>
            <a:srgbClr val="0D9488"/>
          </a:solidFill>
          <a:ln w="12700">
            <a:solidFill>
              <a:srgbClr val="0D9488"/>
            </a:solidFill>
            <a:prstDash val="solid"/>
          </a:ln>
        </p:spPr>
      </p:sp>
      <p:sp>
        <p:nvSpPr>
          <p:cNvPr id="19" name="Text 17"/>
          <p:cNvSpPr/>
          <p:nvPr/>
        </p:nvSpPr>
        <p:spPr>
          <a:xfrm>
            <a:off x="731520" y="4114800"/>
            <a:ext cx="5029200" cy="365760"/>
          </a:xfrm>
          <a:prstGeom prst="rect">
            <a:avLst/>
          </a:prstGeom>
          <a:noFill/>
          <a:ln/>
        </p:spPr>
        <p:txBody>
          <a:bodyPr wrap="square" lIns="0" tIns="0" rIns="0" bIns="0" rtlCol="0" anchor="ctr"/>
          <a:lstStyle/>
          <a:p>
            <a:pPr indent="0" marL="0">
              <a:buNone/>
            </a:pPr>
            <a:r>
              <a:rPr lang="en-US" sz="1600" b="1" dirty="0">
                <a:solidFill>
                  <a:srgbClr val="1E293B"/>
                </a:solidFill>
                <a:latin typeface="Courier New" pitchFamily="34" charset="0"/>
                <a:ea typeface="Courier New" pitchFamily="34" charset="-122"/>
                <a:cs typeface="Courier New" pitchFamily="34" charset="-120"/>
              </a:rPr>
              <a:t>build_traceability.py</a:t>
            </a:r>
            <a:endParaRPr lang="en-US" sz="1600" dirty="0"/>
          </a:p>
        </p:txBody>
      </p:sp>
      <p:sp>
        <p:nvSpPr>
          <p:cNvPr id="20" name="Text 18"/>
          <p:cNvSpPr/>
          <p:nvPr/>
        </p:nvSpPr>
        <p:spPr>
          <a:xfrm>
            <a:off x="731520" y="4480560"/>
            <a:ext cx="5029200" cy="50292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Auto-generates the skill ↔ source ↔ test coverage matrix.</a:t>
            </a:r>
            <a:endParaRPr lang="en-US" sz="1200" dirty="0"/>
          </a:p>
        </p:txBody>
      </p:sp>
      <p:sp>
        <p:nvSpPr>
          <p:cNvPr id="21" name="Shape 19"/>
          <p:cNvSpPr/>
          <p:nvPr/>
        </p:nvSpPr>
        <p:spPr>
          <a:xfrm>
            <a:off x="731520" y="5029200"/>
            <a:ext cx="4937760" cy="640080"/>
          </a:xfrm>
          <a:prstGeom prst="rect">
            <a:avLst/>
          </a:prstGeom>
          <a:solidFill>
            <a:srgbClr val="1E293B"/>
          </a:solidFill>
          <a:ln w="12700">
            <a:solidFill>
              <a:srgbClr val="1E293B"/>
            </a:solidFill>
            <a:prstDash val="solid"/>
          </a:ln>
        </p:spPr>
      </p:sp>
      <p:sp>
        <p:nvSpPr>
          <p:cNvPr id="22" name="Text 20"/>
          <p:cNvSpPr/>
          <p:nvPr/>
        </p:nvSpPr>
        <p:spPr>
          <a:xfrm>
            <a:off x="822960" y="5074920"/>
            <a:ext cx="4754880" cy="548640"/>
          </a:xfrm>
          <a:prstGeom prst="rect">
            <a:avLst/>
          </a:prstGeom>
          <a:noFill/>
          <a:ln/>
        </p:spPr>
        <p:txBody>
          <a:bodyPr wrap="square" lIns="0" tIns="0" rIns="0" bIns="0" rtlCol="0" anchor="ctr"/>
          <a:lstStyle/>
          <a:p>
            <a:pPr indent="0" marL="0">
              <a:buNone/>
            </a:pPr>
            <a:r>
              <a:rPr lang="en-US" sz="1000" dirty="0">
                <a:solidFill>
                  <a:srgbClr val="5EEAD4"/>
                </a:solidFill>
                <a:latin typeface="Courier New" pitchFamily="34" charset="0"/>
                <a:ea typeface="Courier New" pitchFamily="34" charset="-122"/>
                <a:cs typeface="Courier New" pitchFamily="34" charset="-120"/>
              </a:rPr>
              <a:t>Wrote docs/traceability.md</a:t>
            </a:r>
            <a:endParaRPr lang="en-US" sz="1000" dirty="0"/>
          </a:p>
          <a:p>
            <a:pPr indent="0" marL="0">
              <a:buNone/>
            </a:pPr>
            <a:r>
              <a:rPr lang="en-US" sz="1000" dirty="0">
                <a:solidFill>
                  <a:srgbClr val="5EEAD4"/>
                </a:solidFill>
                <a:latin typeface="Courier New" pitchFamily="34" charset="0"/>
                <a:ea typeface="Courier New" pitchFamily="34" charset="-122"/>
                <a:cs typeface="Courier New" pitchFamily="34" charset="-120"/>
              </a:rPr>
              <a:t>22 skills · 30 citations</a:t>
            </a:r>
            <a:endParaRPr lang="en-US" sz="1000" dirty="0"/>
          </a:p>
        </p:txBody>
      </p:sp>
      <p:sp>
        <p:nvSpPr>
          <p:cNvPr id="23" name="Shape 21"/>
          <p:cNvSpPr/>
          <p:nvPr/>
        </p:nvSpPr>
        <p:spPr>
          <a:xfrm>
            <a:off x="6217920" y="3977640"/>
            <a:ext cx="5486400" cy="1828800"/>
          </a:xfrm>
          <a:prstGeom prst="rect">
            <a:avLst/>
          </a:prstGeom>
          <a:solidFill>
            <a:srgbClr val="FFFFFF"/>
          </a:solidFill>
          <a:ln w="12700">
            <a:solidFill>
              <a:srgbClr val="CBD5E1"/>
            </a:solidFill>
            <a:prstDash val="solid"/>
          </a:ln>
        </p:spPr>
      </p:sp>
      <p:sp>
        <p:nvSpPr>
          <p:cNvPr id="24" name="Shape 22"/>
          <p:cNvSpPr/>
          <p:nvPr/>
        </p:nvSpPr>
        <p:spPr>
          <a:xfrm>
            <a:off x="6217920" y="3977640"/>
            <a:ext cx="109728" cy="1828800"/>
          </a:xfrm>
          <a:prstGeom prst="rect">
            <a:avLst/>
          </a:prstGeom>
          <a:solidFill>
            <a:srgbClr val="F59E0B"/>
          </a:solidFill>
          <a:ln w="12700">
            <a:solidFill>
              <a:srgbClr val="F59E0B"/>
            </a:solidFill>
            <a:prstDash val="solid"/>
          </a:ln>
        </p:spPr>
      </p:sp>
      <p:sp>
        <p:nvSpPr>
          <p:cNvPr id="25" name="Text 23"/>
          <p:cNvSpPr/>
          <p:nvPr/>
        </p:nvSpPr>
        <p:spPr>
          <a:xfrm>
            <a:off x="6492240" y="4114800"/>
            <a:ext cx="5029200" cy="365760"/>
          </a:xfrm>
          <a:prstGeom prst="rect">
            <a:avLst/>
          </a:prstGeom>
          <a:noFill/>
          <a:ln/>
        </p:spPr>
        <p:txBody>
          <a:bodyPr wrap="square" lIns="0" tIns="0" rIns="0" bIns="0" rtlCol="0" anchor="ctr"/>
          <a:lstStyle/>
          <a:p>
            <a:pPr indent="0" marL="0">
              <a:buNone/>
            </a:pPr>
            <a:r>
              <a:rPr lang="en-US" sz="1600" b="1" dirty="0">
                <a:solidFill>
                  <a:srgbClr val="1E293B"/>
                </a:solidFill>
                <a:latin typeface="Courier New" pitchFamily="34" charset="0"/>
                <a:ea typeface="Courier New" pitchFamily="34" charset="-122"/>
                <a:cs typeface="Courier New" pitchFamily="34" charset="-120"/>
              </a:rPr>
              <a:t>check_skill_updates_for_diff.py</a:t>
            </a:r>
            <a:endParaRPr lang="en-US" sz="1600" dirty="0"/>
          </a:p>
        </p:txBody>
      </p:sp>
      <p:sp>
        <p:nvSpPr>
          <p:cNvPr id="26" name="Text 24"/>
          <p:cNvSpPr/>
          <p:nvPr/>
        </p:nvSpPr>
        <p:spPr>
          <a:xfrm>
            <a:off x="6492240" y="4480560"/>
            <a:ext cx="5029200" cy="502920"/>
          </a:xfrm>
          <a:prstGeom prst="rect">
            <a:avLst/>
          </a:prstGeom>
          <a:noFill/>
          <a:ln/>
        </p:spPr>
        <p:txBody>
          <a:bodyPr wrap="square" rtlCol="0" anchor="t"/>
          <a:lstStyle/>
          <a:p>
            <a:pPr indent="0" marL="0">
              <a:buNone/>
            </a:pPr>
            <a:r>
              <a:rPr lang="en-US" sz="1200" dirty="0">
                <a:solidFill>
                  <a:srgbClr val="64748B"/>
                </a:solidFill>
                <a:latin typeface="Calibri" pitchFamily="34" charset="0"/>
                <a:ea typeface="Calibri" pitchFamily="34" charset="-122"/>
                <a:cs typeface="Calibri" pitchFamily="34" charset="-120"/>
              </a:rPr>
              <a:t>Pre-commit hook. Lists which skills cite the changed files.</a:t>
            </a:r>
            <a:endParaRPr lang="en-US" sz="1200" dirty="0"/>
          </a:p>
        </p:txBody>
      </p:sp>
      <p:sp>
        <p:nvSpPr>
          <p:cNvPr id="27" name="Shape 25"/>
          <p:cNvSpPr/>
          <p:nvPr/>
        </p:nvSpPr>
        <p:spPr>
          <a:xfrm>
            <a:off x="6492240" y="5029200"/>
            <a:ext cx="4937760" cy="640080"/>
          </a:xfrm>
          <a:prstGeom prst="rect">
            <a:avLst/>
          </a:prstGeom>
          <a:solidFill>
            <a:srgbClr val="1E293B"/>
          </a:solidFill>
          <a:ln w="12700">
            <a:solidFill>
              <a:srgbClr val="1E293B"/>
            </a:solidFill>
            <a:prstDash val="solid"/>
          </a:ln>
        </p:spPr>
      </p:sp>
      <p:sp>
        <p:nvSpPr>
          <p:cNvPr id="28" name="Text 26"/>
          <p:cNvSpPr/>
          <p:nvPr/>
        </p:nvSpPr>
        <p:spPr>
          <a:xfrm>
            <a:off x="6583680" y="5074920"/>
            <a:ext cx="4754880" cy="548640"/>
          </a:xfrm>
          <a:prstGeom prst="rect">
            <a:avLst/>
          </a:prstGeom>
          <a:noFill/>
          <a:ln/>
        </p:spPr>
        <p:txBody>
          <a:bodyPr wrap="square" lIns="0" tIns="0" rIns="0" bIns="0" rtlCol="0" anchor="ctr"/>
          <a:lstStyle/>
          <a:p>
            <a:pPr indent="0" marL="0">
              <a:buNone/>
            </a:pPr>
            <a:r>
              <a:rPr lang="en-US" sz="1000" dirty="0">
                <a:solidFill>
                  <a:srgbClr val="5EEAD4"/>
                </a:solidFill>
                <a:latin typeface="Courier New" pitchFamily="34" charset="0"/>
                <a:ea typeface="Courier New" pitchFamily="34" charset="-122"/>
                <a:cs typeface="Courier New" pitchFamily="34" charset="-120"/>
              </a:rPr>
              <a:t>[ ] docs/skills/03_credit_to_width_floor.md</a:t>
            </a:r>
            <a:endParaRPr lang="en-US" sz="1000" dirty="0"/>
          </a:p>
          <a:p>
            <a:pPr indent="0" marL="0">
              <a:buNone/>
            </a:pPr>
            <a:r>
              <a:rPr lang="en-US" sz="1000" dirty="0">
                <a:solidFill>
                  <a:srgbClr val="5EEAD4"/>
                </a:solidFill>
                <a:latin typeface="Courier New" pitchFamily="34" charset="0"/>
                <a:ea typeface="Courier New" pitchFamily="34" charset="-122"/>
                <a:cs typeface="Courier New" pitchFamily="34" charset="-120"/>
              </a:rPr>
              <a:t>        changed source: chain_scanner.py</a:t>
            </a:r>
            <a:endParaRPr lang="en-US" sz="1000" dirty="0"/>
          </a:p>
        </p:txBody>
      </p:sp>
      <p:sp>
        <p:nvSpPr>
          <p:cNvPr id="29" name="Text 27"/>
          <p:cNvSpPr/>
          <p:nvPr/>
        </p:nvSpPr>
        <p:spPr>
          <a:xfrm>
            <a:off x="457200" y="5897880"/>
            <a:ext cx="11247120" cy="36576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All five scripts ship as open-source-ready Python.  No third-party deps.  Drop them into any LLM-assisted repo.</a:t>
            </a:r>
            <a:endParaRPr lang="en-US" sz="1400" dirty="0"/>
          </a:p>
        </p:txBody>
      </p:sp>
      <p:sp>
        <p:nvSpPr>
          <p:cNvPr id="30" name="Text 28"/>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10</a:t>
            </a:r>
            <a:endParaRPr lang="en-US" sz="900" dirty="0"/>
          </a:p>
        </p:txBody>
      </p:sp>
      <p:sp>
        <p:nvSpPr>
          <p:cNvPr id="31" name="Text 29"/>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0D9488"/>
          </a:solidFill>
          <a:ln w="12700">
            <a:solidFill>
              <a:srgbClr val="0D9488"/>
            </a:solidFill>
            <a:prstDash val="solid"/>
          </a:ln>
        </p:spPr>
      </p:sp>
      <p:sp>
        <p:nvSpPr>
          <p:cNvPr id="3" name="Text 1"/>
          <p:cNvSpPr/>
          <p:nvPr/>
        </p:nvSpPr>
        <p:spPr>
          <a:xfrm>
            <a:off x="457200" y="411480"/>
            <a:ext cx="54864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IF YOU REMEMBER NOTHING ELSE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Five Takeaways</a:t>
            </a:r>
            <a:endParaRPr lang="en-US" sz="3600" dirty="0"/>
          </a:p>
        </p:txBody>
      </p:sp>
      <p:sp>
        <p:nvSpPr>
          <p:cNvPr id="5" name="Shape 3"/>
          <p:cNvSpPr/>
          <p:nvPr/>
        </p:nvSpPr>
        <p:spPr>
          <a:xfrm>
            <a:off x="457200" y="1737360"/>
            <a:ext cx="11247120" cy="777240"/>
          </a:xfrm>
          <a:prstGeom prst="rect">
            <a:avLst/>
          </a:prstGeom>
          <a:solidFill>
            <a:srgbClr val="FFFFFF"/>
          </a:solidFill>
          <a:ln w="12700">
            <a:solidFill>
              <a:srgbClr val="CBD5E1"/>
            </a:solidFill>
            <a:prstDash val="solid"/>
          </a:ln>
        </p:spPr>
      </p:sp>
      <p:sp>
        <p:nvSpPr>
          <p:cNvPr id="6" name="Shape 4"/>
          <p:cNvSpPr/>
          <p:nvPr/>
        </p:nvSpPr>
        <p:spPr>
          <a:xfrm>
            <a:off x="457200" y="1737360"/>
            <a:ext cx="914400" cy="777240"/>
          </a:xfrm>
          <a:prstGeom prst="rect">
            <a:avLst/>
          </a:prstGeom>
          <a:solidFill>
            <a:srgbClr val="0D9488"/>
          </a:solidFill>
          <a:ln w="12700">
            <a:solidFill>
              <a:srgbClr val="0D9488"/>
            </a:solidFill>
            <a:prstDash val="solid"/>
          </a:ln>
        </p:spPr>
      </p:sp>
      <p:sp>
        <p:nvSpPr>
          <p:cNvPr id="7" name="Text 5"/>
          <p:cNvSpPr/>
          <p:nvPr/>
        </p:nvSpPr>
        <p:spPr>
          <a:xfrm>
            <a:off x="457200" y="1737360"/>
            <a:ext cx="914400" cy="77724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1554480" y="1828800"/>
            <a:ext cx="1005840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Vibe coding scales to ~3,000 lines.  Then it breaks.</a:t>
            </a:r>
            <a:endParaRPr lang="en-US" sz="1700" dirty="0"/>
          </a:p>
        </p:txBody>
      </p:sp>
      <p:sp>
        <p:nvSpPr>
          <p:cNvPr id="9" name="Text 7"/>
          <p:cNvSpPr/>
          <p:nvPr/>
        </p:nvSpPr>
        <p:spPr>
          <a:xfrm>
            <a:off x="1554480" y="2176272"/>
            <a:ext cx="100584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Plan for the transition. Don't fight it.</a:t>
            </a:r>
            <a:endParaRPr lang="en-US" sz="1200" dirty="0"/>
          </a:p>
        </p:txBody>
      </p:sp>
      <p:sp>
        <p:nvSpPr>
          <p:cNvPr id="10" name="Shape 8"/>
          <p:cNvSpPr/>
          <p:nvPr/>
        </p:nvSpPr>
        <p:spPr>
          <a:xfrm>
            <a:off x="457200" y="2606040"/>
            <a:ext cx="11247120" cy="777240"/>
          </a:xfrm>
          <a:prstGeom prst="rect">
            <a:avLst/>
          </a:prstGeom>
          <a:solidFill>
            <a:srgbClr val="FFFFFF"/>
          </a:solidFill>
          <a:ln w="12700">
            <a:solidFill>
              <a:srgbClr val="CBD5E1"/>
            </a:solidFill>
            <a:prstDash val="solid"/>
          </a:ln>
        </p:spPr>
      </p:sp>
      <p:sp>
        <p:nvSpPr>
          <p:cNvPr id="11" name="Shape 9"/>
          <p:cNvSpPr/>
          <p:nvPr/>
        </p:nvSpPr>
        <p:spPr>
          <a:xfrm>
            <a:off x="457200" y="2606040"/>
            <a:ext cx="914400" cy="777240"/>
          </a:xfrm>
          <a:prstGeom prst="rect">
            <a:avLst/>
          </a:prstGeom>
          <a:solidFill>
            <a:srgbClr val="0D9488"/>
          </a:solidFill>
          <a:ln w="12700">
            <a:solidFill>
              <a:srgbClr val="0D9488"/>
            </a:solidFill>
            <a:prstDash val="solid"/>
          </a:ln>
        </p:spPr>
      </p:sp>
      <p:sp>
        <p:nvSpPr>
          <p:cNvPr id="12" name="Text 10"/>
          <p:cNvSpPr/>
          <p:nvPr/>
        </p:nvSpPr>
        <p:spPr>
          <a:xfrm>
            <a:off x="457200" y="2606040"/>
            <a:ext cx="914400" cy="77724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02</a:t>
            </a:r>
            <a:endParaRPr lang="en-US" sz="2400" dirty="0"/>
          </a:p>
        </p:txBody>
      </p:sp>
      <p:sp>
        <p:nvSpPr>
          <p:cNvPr id="13" name="Text 11"/>
          <p:cNvSpPr/>
          <p:nvPr/>
        </p:nvSpPr>
        <p:spPr>
          <a:xfrm>
            <a:off x="1554480" y="2697480"/>
            <a:ext cx="1005840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Chat history is not architecture.</a:t>
            </a:r>
            <a:endParaRPr lang="en-US" sz="1700" dirty="0"/>
          </a:p>
        </p:txBody>
      </p:sp>
      <p:sp>
        <p:nvSpPr>
          <p:cNvPr id="14" name="Text 12"/>
          <p:cNvSpPr/>
          <p:nvPr/>
        </p:nvSpPr>
        <p:spPr>
          <a:xfrm>
            <a:off x="1554480" y="3044952"/>
            <a:ext cx="100584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Write the architecture down, atomically, on disk.</a:t>
            </a:r>
            <a:endParaRPr lang="en-US" sz="1200" dirty="0"/>
          </a:p>
        </p:txBody>
      </p:sp>
      <p:sp>
        <p:nvSpPr>
          <p:cNvPr id="15" name="Shape 13"/>
          <p:cNvSpPr/>
          <p:nvPr/>
        </p:nvSpPr>
        <p:spPr>
          <a:xfrm>
            <a:off x="457200" y="3474720"/>
            <a:ext cx="11247120" cy="777240"/>
          </a:xfrm>
          <a:prstGeom prst="rect">
            <a:avLst/>
          </a:prstGeom>
          <a:solidFill>
            <a:srgbClr val="FFFFFF"/>
          </a:solidFill>
          <a:ln w="12700">
            <a:solidFill>
              <a:srgbClr val="CBD5E1"/>
            </a:solidFill>
            <a:prstDash val="solid"/>
          </a:ln>
        </p:spPr>
      </p:sp>
      <p:sp>
        <p:nvSpPr>
          <p:cNvPr id="16" name="Shape 14"/>
          <p:cNvSpPr/>
          <p:nvPr/>
        </p:nvSpPr>
        <p:spPr>
          <a:xfrm>
            <a:off x="457200" y="3474720"/>
            <a:ext cx="914400" cy="777240"/>
          </a:xfrm>
          <a:prstGeom prst="rect">
            <a:avLst/>
          </a:prstGeom>
          <a:solidFill>
            <a:srgbClr val="0D9488"/>
          </a:solidFill>
          <a:ln w="12700">
            <a:solidFill>
              <a:srgbClr val="0D9488"/>
            </a:solidFill>
            <a:prstDash val="solid"/>
          </a:ln>
        </p:spPr>
      </p:sp>
      <p:sp>
        <p:nvSpPr>
          <p:cNvPr id="17" name="Text 15"/>
          <p:cNvSpPr/>
          <p:nvPr/>
        </p:nvSpPr>
        <p:spPr>
          <a:xfrm>
            <a:off x="457200" y="3474720"/>
            <a:ext cx="914400" cy="77724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03</a:t>
            </a:r>
            <a:endParaRPr lang="en-US" sz="2400" dirty="0"/>
          </a:p>
        </p:txBody>
      </p:sp>
      <p:sp>
        <p:nvSpPr>
          <p:cNvPr id="18" name="Text 16"/>
          <p:cNvSpPr/>
          <p:nvPr/>
        </p:nvSpPr>
        <p:spPr>
          <a:xfrm>
            <a:off x="1554480" y="3566160"/>
            <a:ext cx="1005840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Specs are the source of truth.  Code proves the spec is real.</a:t>
            </a:r>
            <a:endParaRPr lang="en-US" sz="1700" dirty="0"/>
          </a:p>
        </p:txBody>
      </p:sp>
      <p:sp>
        <p:nvSpPr>
          <p:cNvPr id="19" name="Text 17"/>
          <p:cNvSpPr/>
          <p:nvPr/>
        </p:nvSpPr>
        <p:spPr>
          <a:xfrm>
            <a:off x="1554480" y="3913632"/>
            <a:ext cx="100584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When they conflict, the spec is right unless proven otherwise.</a:t>
            </a:r>
            <a:endParaRPr lang="en-US" sz="1200" dirty="0"/>
          </a:p>
        </p:txBody>
      </p:sp>
      <p:sp>
        <p:nvSpPr>
          <p:cNvPr id="20" name="Shape 18"/>
          <p:cNvSpPr/>
          <p:nvPr/>
        </p:nvSpPr>
        <p:spPr>
          <a:xfrm>
            <a:off x="457200" y="4343400"/>
            <a:ext cx="11247120" cy="777240"/>
          </a:xfrm>
          <a:prstGeom prst="rect">
            <a:avLst/>
          </a:prstGeom>
          <a:solidFill>
            <a:srgbClr val="FFFFFF"/>
          </a:solidFill>
          <a:ln w="12700">
            <a:solidFill>
              <a:srgbClr val="CBD5E1"/>
            </a:solidFill>
            <a:prstDash val="solid"/>
          </a:ln>
        </p:spPr>
      </p:sp>
      <p:sp>
        <p:nvSpPr>
          <p:cNvPr id="21" name="Shape 19"/>
          <p:cNvSpPr/>
          <p:nvPr/>
        </p:nvSpPr>
        <p:spPr>
          <a:xfrm>
            <a:off x="457200" y="4343400"/>
            <a:ext cx="914400" cy="777240"/>
          </a:xfrm>
          <a:prstGeom prst="rect">
            <a:avLst/>
          </a:prstGeom>
          <a:solidFill>
            <a:srgbClr val="0D9488"/>
          </a:solidFill>
          <a:ln w="12700">
            <a:solidFill>
              <a:srgbClr val="0D9488"/>
            </a:solidFill>
            <a:prstDash val="solid"/>
          </a:ln>
        </p:spPr>
      </p:sp>
      <p:sp>
        <p:nvSpPr>
          <p:cNvPr id="22" name="Text 20"/>
          <p:cNvSpPr/>
          <p:nvPr/>
        </p:nvSpPr>
        <p:spPr>
          <a:xfrm>
            <a:off x="457200" y="4343400"/>
            <a:ext cx="914400" cy="77724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04</a:t>
            </a:r>
            <a:endParaRPr lang="en-US" sz="2400" dirty="0"/>
          </a:p>
        </p:txBody>
      </p:sp>
      <p:sp>
        <p:nvSpPr>
          <p:cNvPr id="23" name="Text 21"/>
          <p:cNvSpPr/>
          <p:nvPr/>
        </p:nvSpPr>
        <p:spPr>
          <a:xfrm>
            <a:off x="1554480" y="4434840"/>
            <a:ext cx="1005840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CI gates beat human discipline.  Every time.</a:t>
            </a:r>
            <a:endParaRPr lang="en-US" sz="1700" dirty="0"/>
          </a:p>
        </p:txBody>
      </p:sp>
      <p:sp>
        <p:nvSpPr>
          <p:cNvPr id="24" name="Text 22"/>
          <p:cNvSpPr/>
          <p:nvPr/>
        </p:nvSpPr>
        <p:spPr>
          <a:xfrm>
            <a:off x="1554480" y="4782312"/>
            <a:ext cx="100584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I forgot 14 footer re-stamps. The script caught all of them.</a:t>
            </a:r>
            <a:endParaRPr lang="en-US" sz="1200" dirty="0"/>
          </a:p>
        </p:txBody>
      </p:sp>
      <p:sp>
        <p:nvSpPr>
          <p:cNvPr id="25" name="Shape 23"/>
          <p:cNvSpPr/>
          <p:nvPr/>
        </p:nvSpPr>
        <p:spPr>
          <a:xfrm>
            <a:off x="457200" y="5212080"/>
            <a:ext cx="11247120" cy="777240"/>
          </a:xfrm>
          <a:prstGeom prst="rect">
            <a:avLst/>
          </a:prstGeom>
          <a:solidFill>
            <a:srgbClr val="FFFFFF"/>
          </a:solidFill>
          <a:ln w="12700">
            <a:solidFill>
              <a:srgbClr val="CBD5E1"/>
            </a:solidFill>
            <a:prstDash val="solid"/>
          </a:ln>
        </p:spPr>
      </p:sp>
      <p:sp>
        <p:nvSpPr>
          <p:cNvPr id="26" name="Shape 24"/>
          <p:cNvSpPr/>
          <p:nvPr/>
        </p:nvSpPr>
        <p:spPr>
          <a:xfrm>
            <a:off x="457200" y="5212080"/>
            <a:ext cx="914400" cy="777240"/>
          </a:xfrm>
          <a:prstGeom prst="rect">
            <a:avLst/>
          </a:prstGeom>
          <a:solidFill>
            <a:srgbClr val="0D9488"/>
          </a:solidFill>
          <a:ln w="12700">
            <a:solidFill>
              <a:srgbClr val="0D9488"/>
            </a:solidFill>
            <a:prstDash val="solid"/>
          </a:ln>
        </p:spPr>
      </p:sp>
      <p:sp>
        <p:nvSpPr>
          <p:cNvPr id="27" name="Text 25"/>
          <p:cNvSpPr/>
          <p:nvPr/>
        </p:nvSpPr>
        <p:spPr>
          <a:xfrm>
            <a:off x="457200" y="5212080"/>
            <a:ext cx="914400" cy="77724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05</a:t>
            </a:r>
            <a:endParaRPr lang="en-US" sz="2400" dirty="0"/>
          </a:p>
        </p:txBody>
      </p:sp>
      <p:sp>
        <p:nvSpPr>
          <p:cNvPr id="28" name="Text 26"/>
          <p:cNvSpPr/>
          <p:nvPr/>
        </p:nvSpPr>
        <p:spPr>
          <a:xfrm>
            <a:off x="1554480" y="5303520"/>
            <a:ext cx="1005840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The LLM is your collaborator, not your engineer.</a:t>
            </a:r>
            <a:endParaRPr lang="en-US" sz="1700" dirty="0"/>
          </a:p>
        </p:txBody>
      </p:sp>
      <p:sp>
        <p:nvSpPr>
          <p:cNvPr id="29" name="Text 27"/>
          <p:cNvSpPr/>
          <p:nvPr/>
        </p:nvSpPr>
        <p:spPr>
          <a:xfrm>
            <a:off x="1554480" y="5650992"/>
            <a:ext cx="100584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You still own the spec.</a:t>
            </a:r>
            <a:endParaRPr lang="en-US" sz="1200" dirty="0"/>
          </a:p>
        </p:txBody>
      </p:sp>
      <p:sp>
        <p:nvSpPr>
          <p:cNvPr id="30" name="Text 28"/>
          <p:cNvSpPr/>
          <p:nvPr/>
        </p:nvSpPr>
        <p:spPr>
          <a:xfrm>
            <a:off x="11430000" y="6446520"/>
            <a:ext cx="54864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10</a:t>
            </a:r>
            <a:endParaRPr lang="en-US" sz="900" dirty="0"/>
          </a:p>
        </p:txBody>
      </p:sp>
      <p:sp>
        <p:nvSpPr>
          <p:cNvPr id="31" name="Text 29"/>
          <p:cNvSpPr/>
          <p:nvPr/>
        </p:nvSpPr>
        <p:spPr>
          <a:xfrm>
            <a:off x="457200" y="6446520"/>
            <a:ext cx="54864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SDD Journey · Trading Agent Project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457200" y="548640"/>
            <a:ext cx="11247120" cy="1463040"/>
          </a:xfrm>
          <a:prstGeom prst="rect">
            <a:avLst/>
          </a:prstGeom>
          <a:solidFill>
            <a:srgbClr val="0F172A"/>
          </a:solidFill>
          <a:ln w="25400">
            <a:solidFill>
              <a:srgbClr val="16A34A"/>
            </a:solidFill>
            <a:prstDash val="solid"/>
          </a:ln>
        </p:spPr>
      </p:sp>
      <p:sp>
        <p:nvSpPr>
          <p:cNvPr id="3" name="Text 1"/>
          <p:cNvSpPr/>
          <p:nvPr/>
        </p:nvSpPr>
        <p:spPr>
          <a:xfrm>
            <a:off x="731520" y="685800"/>
            <a:ext cx="5486400" cy="274320"/>
          </a:xfrm>
          <a:prstGeom prst="rect">
            <a:avLst/>
          </a:prstGeom>
          <a:noFill/>
          <a:ln/>
        </p:spPr>
        <p:txBody>
          <a:bodyPr wrap="square" lIns="0" tIns="0" rIns="0" bIns="0" rtlCol="0" anchor="ctr"/>
          <a:lstStyle/>
          <a:p>
            <a:pPr indent="0" marL="0">
              <a:buNone/>
            </a:pPr>
            <a:r>
              <a:rPr lang="en-US" sz="1100" b="1" spc="300" kern="0" dirty="0">
                <a:solidFill>
                  <a:srgbClr val="16A34A"/>
                </a:solidFill>
                <a:latin typeface="Calibri" pitchFamily="34" charset="0"/>
                <a:ea typeface="Calibri" pitchFamily="34" charset="-122"/>
                <a:cs typeface="Calibri" pitchFamily="34" charset="-120"/>
              </a:rPr>
              <a:t>EXHIBIT A  ·  AFTER</a:t>
            </a:r>
            <a:endParaRPr lang="en-US" sz="1100" dirty="0"/>
          </a:p>
        </p:txBody>
      </p:sp>
      <p:sp>
        <p:nvSpPr>
          <p:cNvPr id="4" name="Text 2"/>
          <p:cNvSpPr/>
          <p:nvPr/>
        </p:nvSpPr>
        <p:spPr>
          <a:xfrm>
            <a:off x="731520" y="1051560"/>
            <a:ext cx="10972800" cy="822960"/>
          </a:xfrm>
          <a:prstGeom prst="rect">
            <a:avLst/>
          </a:prstGeom>
          <a:noFill/>
          <a:ln/>
        </p:spPr>
        <p:txBody>
          <a:bodyPr wrap="square" lIns="0" tIns="0" rIns="0" bIns="0" rtlCol="0" anchor="ctr"/>
          <a:lstStyle/>
          <a:p>
            <a:pPr indent="0" marL="0">
              <a:buNone/>
            </a:pPr>
            <a:r>
              <a:rPr lang="en-US" sz="2800" b="1" dirty="0">
                <a:solidFill>
                  <a:srgbClr val="F8FAFC"/>
                </a:solidFill>
              </a:rPr>
              <a:t>GLD </a:t>
            </a:r>
            <a:pPr indent="0" marL="0">
              <a:buNone/>
            </a:pPr>
            <a:r>
              <a:rPr lang="en-US" sz="1800" dirty="0">
                <a:solidFill>
                  <a:srgbClr val="64748B"/>
                </a:solidFill>
              </a:rPr>
              <a:t>Iron Condor   |   credit </a:t>
            </a:r>
            <a:pPr indent="0" marL="0">
              <a:buNone/>
            </a:pPr>
            <a:r>
              <a:rPr lang="en-US" sz="2200" b="1" dirty="0">
                <a:solidFill>
                  <a:srgbClr val="F8FAFC"/>
                </a:solidFill>
              </a:rPr>
              <a:t>$195</a:t>
            </a:r>
            <a:pPr indent="0" marL="0">
              <a:buNone/>
            </a:pPr>
            <a:r>
              <a:rPr lang="en-US" sz="1800" dirty="0">
                <a:solidFill>
                  <a:srgbClr val="64748B"/>
                </a:solidFill>
              </a:rPr>
              <a:t>   |   P&amp;L </a:t>
            </a:r>
            <a:pPr indent="0" marL="0">
              <a:buNone/>
            </a:pPr>
            <a:r>
              <a:rPr lang="en-US" sz="3200" b="1" dirty="0">
                <a:solidFill>
                  <a:srgbClr val="16A34A"/>
                </a:solidFill>
              </a:rPr>
              <a:t>+$22</a:t>
            </a:r>
            <a:pPr indent="0" marL="0">
              <a:buNone/>
            </a:pPr>
            <a:r>
              <a:rPr lang="en-US" sz="1800" dirty="0">
                <a:solidFill>
                  <a:srgbClr val="000000"/>
                </a:solidFill>
              </a:rPr>
              <a:t>   </a:t>
            </a:r>
            <a:pPr indent="0" marL="0">
              <a:buNone/>
            </a:pPr>
            <a:r>
              <a:rPr lang="en-US" sz="2200" b="1" dirty="0">
                <a:solidFill>
                  <a:srgbClr val="16A34A"/>
                </a:solidFill>
              </a:rPr>
              <a:t>+11%</a:t>
            </a:r>
            <a:endParaRPr lang="en-US" sz="2800" dirty="0"/>
          </a:p>
        </p:txBody>
      </p:sp>
      <p:sp>
        <p:nvSpPr>
          <p:cNvPr id="5" name="Text 3"/>
          <p:cNvSpPr/>
          <p:nvPr/>
        </p:nvSpPr>
        <p:spPr>
          <a:xfrm>
            <a:off x="457200" y="2651760"/>
            <a:ext cx="11247120" cy="640080"/>
          </a:xfrm>
          <a:prstGeom prst="rect">
            <a:avLst/>
          </a:prstGeom>
          <a:noFill/>
          <a:ln/>
        </p:spPr>
        <p:txBody>
          <a:bodyPr wrap="square" lIns="0" tIns="0" rIns="0" bIns="0" rtlCol="0" anchor="ctr"/>
          <a:lstStyle/>
          <a:p>
            <a:pPr algn="ctr" indent="0" marL="0">
              <a:buNone/>
            </a:pPr>
            <a:r>
              <a:rPr lang="en-US" sz="3200" b="1" dirty="0">
                <a:solidFill>
                  <a:srgbClr val="F8FAFC"/>
                </a:solidFill>
                <a:latin typeface="Calibri" pitchFamily="34" charset="0"/>
                <a:ea typeface="Calibri" pitchFamily="34" charset="-122"/>
                <a:cs typeface="Calibri" pitchFamily="34" charset="-120"/>
              </a:rPr>
              <a:t>Same trade.  Same dashboard.</a:t>
            </a:r>
            <a:endParaRPr lang="en-US" sz="3200" dirty="0"/>
          </a:p>
        </p:txBody>
      </p:sp>
      <p:sp>
        <p:nvSpPr>
          <p:cNvPr id="6" name="Text 4"/>
          <p:cNvSpPr/>
          <p:nvPr/>
        </p:nvSpPr>
        <p:spPr>
          <a:xfrm>
            <a:off x="457200" y="3246120"/>
            <a:ext cx="11247120" cy="640080"/>
          </a:xfrm>
          <a:prstGeom prst="rect">
            <a:avLst/>
          </a:prstGeom>
          <a:noFill/>
          <a:ln/>
        </p:spPr>
        <p:txBody>
          <a:bodyPr wrap="square" lIns="0" tIns="0" rIns="0" bIns="0" rtlCol="0" anchor="ctr"/>
          <a:lstStyle/>
          <a:p>
            <a:pPr algn="ctr" indent="0" marL="0">
              <a:buNone/>
            </a:pPr>
            <a:r>
              <a:rPr lang="en-US" sz="3200" b="1" i="1" dirty="0">
                <a:solidFill>
                  <a:srgbClr val="5EEAD4"/>
                </a:solidFill>
                <a:latin typeface="Calibri" pitchFamily="34" charset="0"/>
                <a:ea typeface="Calibri" pitchFamily="34" charset="-122"/>
                <a:cs typeface="Calibri" pitchFamily="34" charset="-120"/>
              </a:rPr>
              <a:t>Different process.</a:t>
            </a:r>
            <a:endParaRPr lang="en-US" sz="3200" dirty="0"/>
          </a:p>
        </p:txBody>
      </p:sp>
      <p:sp>
        <p:nvSpPr>
          <p:cNvPr id="7" name="Shape 5"/>
          <p:cNvSpPr/>
          <p:nvPr/>
        </p:nvSpPr>
        <p:spPr>
          <a:xfrm>
            <a:off x="1188720" y="4297680"/>
            <a:ext cx="1920240" cy="457200"/>
          </a:xfrm>
          <a:prstGeom prst="rect">
            <a:avLst/>
          </a:prstGeom>
          <a:solidFill>
            <a:srgbClr val="16A34A">
              <a:alpha val="20000"/>
            </a:srgbClr>
          </a:solidFill>
          <a:ln w="12700">
            <a:solidFill>
              <a:srgbClr val="16A34A"/>
            </a:solidFill>
            <a:prstDash val="solid"/>
          </a:ln>
        </p:spPr>
      </p:sp>
      <p:sp>
        <p:nvSpPr>
          <p:cNvPr id="8" name="Text 6"/>
          <p:cNvSpPr/>
          <p:nvPr/>
        </p:nvSpPr>
        <p:spPr>
          <a:xfrm>
            <a:off x="1188720" y="4297680"/>
            <a:ext cx="1920240" cy="457200"/>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  </a:t>
            </a:r>
            <a:pPr algn="ctr" indent="0" marL="0">
              <a:buNone/>
            </a:pPr>
            <a:r>
              <a:rPr lang="en-US" sz="1400" b="1" dirty="0">
                <a:solidFill>
                  <a:srgbClr val="16A34A"/>
                </a:solidFill>
                <a:latin typeface="Calibri" pitchFamily="34" charset="0"/>
                <a:ea typeface="Calibri" pitchFamily="34" charset="-122"/>
                <a:cs typeface="Calibri" pitchFamily="34" charset="-120"/>
              </a:rPr>
              <a:t>Invariants</a:t>
            </a:r>
            <a:endParaRPr lang="en-US" sz="1400" dirty="0"/>
          </a:p>
        </p:txBody>
      </p:sp>
      <p:sp>
        <p:nvSpPr>
          <p:cNvPr id="9" name="Shape 7"/>
          <p:cNvSpPr/>
          <p:nvPr/>
        </p:nvSpPr>
        <p:spPr>
          <a:xfrm>
            <a:off x="3200400" y="4297680"/>
            <a:ext cx="1920240" cy="457200"/>
          </a:xfrm>
          <a:prstGeom prst="rect">
            <a:avLst/>
          </a:prstGeom>
          <a:solidFill>
            <a:srgbClr val="16A34A">
              <a:alpha val="20000"/>
            </a:srgbClr>
          </a:solidFill>
          <a:ln w="12700">
            <a:solidFill>
              <a:srgbClr val="16A34A"/>
            </a:solidFill>
            <a:prstDash val="solid"/>
          </a:ln>
        </p:spPr>
      </p:sp>
      <p:sp>
        <p:nvSpPr>
          <p:cNvPr id="10" name="Text 8"/>
          <p:cNvSpPr/>
          <p:nvPr/>
        </p:nvSpPr>
        <p:spPr>
          <a:xfrm>
            <a:off x="3200400" y="4297680"/>
            <a:ext cx="1920240" cy="457200"/>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  </a:t>
            </a:r>
            <a:pPr algn="ctr" indent="0" marL="0">
              <a:buNone/>
            </a:pPr>
            <a:r>
              <a:rPr lang="en-US" sz="1400" b="1" dirty="0">
                <a:solidFill>
                  <a:srgbClr val="16A34A"/>
                </a:solidFill>
                <a:latin typeface="Calibri" pitchFamily="34" charset="0"/>
                <a:ea typeface="Calibri" pitchFamily="34" charset="-122"/>
                <a:cs typeface="Calibri" pitchFamily="34" charset="-120"/>
              </a:rPr>
              <a:t>Quote-match</a:t>
            </a:r>
            <a:endParaRPr lang="en-US" sz="1400" dirty="0"/>
          </a:p>
        </p:txBody>
      </p:sp>
      <p:sp>
        <p:nvSpPr>
          <p:cNvPr id="11" name="Shape 9"/>
          <p:cNvSpPr/>
          <p:nvPr/>
        </p:nvSpPr>
        <p:spPr>
          <a:xfrm>
            <a:off x="5212080" y="4297680"/>
            <a:ext cx="1920240" cy="457200"/>
          </a:xfrm>
          <a:prstGeom prst="rect">
            <a:avLst/>
          </a:prstGeom>
          <a:solidFill>
            <a:srgbClr val="16A34A">
              <a:alpha val="20000"/>
            </a:srgbClr>
          </a:solidFill>
          <a:ln w="12700">
            <a:solidFill>
              <a:srgbClr val="16A34A"/>
            </a:solidFill>
            <a:prstDash val="solid"/>
          </a:ln>
        </p:spPr>
      </p:sp>
      <p:sp>
        <p:nvSpPr>
          <p:cNvPr id="12" name="Text 10"/>
          <p:cNvSpPr/>
          <p:nvPr/>
        </p:nvSpPr>
        <p:spPr>
          <a:xfrm>
            <a:off x="5212080" y="4297680"/>
            <a:ext cx="1920240" cy="457200"/>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  </a:t>
            </a:r>
            <a:pPr algn="ctr" indent="0" marL="0">
              <a:buNone/>
            </a:pPr>
            <a:r>
              <a:rPr lang="en-US" sz="1400" b="1" dirty="0">
                <a:solidFill>
                  <a:srgbClr val="16A34A"/>
                </a:solidFill>
                <a:latin typeface="Calibri" pitchFamily="34" charset="0"/>
                <a:ea typeface="Calibri" pitchFamily="34" charset="-122"/>
                <a:cs typeface="Calibri" pitchFamily="34" charset="-120"/>
              </a:rPr>
              <a:t>Freshness</a:t>
            </a:r>
            <a:endParaRPr lang="en-US" sz="1400" dirty="0"/>
          </a:p>
        </p:txBody>
      </p:sp>
      <p:sp>
        <p:nvSpPr>
          <p:cNvPr id="13" name="Shape 11"/>
          <p:cNvSpPr/>
          <p:nvPr/>
        </p:nvSpPr>
        <p:spPr>
          <a:xfrm>
            <a:off x="7223760" y="4297680"/>
            <a:ext cx="1920240" cy="457200"/>
          </a:xfrm>
          <a:prstGeom prst="rect">
            <a:avLst/>
          </a:prstGeom>
          <a:solidFill>
            <a:srgbClr val="16A34A">
              <a:alpha val="20000"/>
            </a:srgbClr>
          </a:solidFill>
          <a:ln w="12700">
            <a:solidFill>
              <a:srgbClr val="16A34A"/>
            </a:solidFill>
            <a:prstDash val="solid"/>
          </a:ln>
        </p:spPr>
      </p:sp>
      <p:sp>
        <p:nvSpPr>
          <p:cNvPr id="14" name="Text 12"/>
          <p:cNvSpPr/>
          <p:nvPr/>
        </p:nvSpPr>
        <p:spPr>
          <a:xfrm>
            <a:off x="7223760" y="4297680"/>
            <a:ext cx="1920240" cy="457200"/>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  </a:t>
            </a:r>
            <a:pPr algn="ctr" indent="0" marL="0">
              <a:buNone/>
            </a:pPr>
            <a:r>
              <a:rPr lang="en-US" sz="1400" b="1" dirty="0">
                <a:solidFill>
                  <a:srgbClr val="16A34A"/>
                </a:solidFill>
                <a:latin typeface="Calibri" pitchFamily="34" charset="0"/>
                <a:ea typeface="Calibri" pitchFamily="34" charset="-122"/>
                <a:cs typeface="Calibri" pitchFamily="34" charset="-120"/>
              </a:rPr>
              <a:t>Traceability</a:t>
            </a:r>
            <a:endParaRPr lang="en-US" sz="1400" dirty="0"/>
          </a:p>
        </p:txBody>
      </p:sp>
      <p:sp>
        <p:nvSpPr>
          <p:cNvPr id="15" name="Shape 13"/>
          <p:cNvSpPr/>
          <p:nvPr/>
        </p:nvSpPr>
        <p:spPr>
          <a:xfrm>
            <a:off x="9235440" y="4297680"/>
            <a:ext cx="1920240" cy="457200"/>
          </a:xfrm>
          <a:prstGeom prst="rect">
            <a:avLst/>
          </a:prstGeom>
          <a:solidFill>
            <a:srgbClr val="16A34A">
              <a:alpha val="20000"/>
            </a:srgbClr>
          </a:solidFill>
          <a:ln w="12700">
            <a:solidFill>
              <a:srgbClr val="16A34A"/>
            </a:solidFill>
            <a:prstDash val="solid"/>
          </a:ln>
        </p:spPr>
      </p:sp>
      <p:sp>
        <p:nvSpPr>
          <p:cNvPr id="16" name="Text 14"/>
          <p:cNvSpPr/>
          <p:nvPr/>
        </p:nvSpPr>
        <p:spPr>
          <a:xfrm>
            <a:off x="9235440" y="4297680"/>
            <a:ext cx="1920240" cy="457200"/>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  </a:t>
            </a:r>
            <a:pPr algn="ctr" indent="0" marL="0">
              <a:buNone/>
            </a:pPr>
            <a:r>
              <a:rPr lang="en-US" sz="1400" b="1" dirty="0">
                <a:solidFill>
                  <a:srgbClr val="16A34A"/>
                </a:solidFill>
                <a:latin typeface="Calibri" pitchFamily="34" charset="0"/>
                <a:ea typeface="Calibri" pitchFamily="34" charset="-122"/>
                <a:cs typeface="Calibri" pitchFamily="34" charset="-120"/>
              </a:rPr>
              <a:t>Conformance</a:t>
            </a:r>
            <a:endParaRPr lang="en-US" sz="1400" dirty="0"/>
          </a:p>
        </p:txBody>
      </p:sp>
      <p:sp>
        <p:nvSpPr>
          <p:cNvPr id="17" name="Text 15"/>
          <p:cNvSpPr/>
          <p:nvPr/>
        </p:nvSpPr>
        <p:spPr>
          <a:xfrm>
            <a:off x="457200" y="5120640"/>
            <a:ext cx="11247120" cy="548640"/>
          </a:xfrm>
          <a:prstGeom prst="rect">
            <a:avLst/>
          </a:prstGeom>
          <a:noFill/>
          <a:ln/>
        </p:spPr>
        <p:txBody>
          <a:bodyPr wrap="square" lIns="0" tIns="0" rIns="0" bIns="0" rtlCol="0" anchor="ctr"/>
          <a:lstStyle/>
          <a:p>
            <a:pPr algn="ctr" indent="0" marL="0">
              <a:buNone/>
            </a:pPr>
            <a:r>
              <a:rPr lang="en-US" sz="3200" b="1" dirty="0">
                <a:solidFill>
                  <a:srgbClr val="F8FAFC"/>
                </a:solidFill>
                <a:latin typeface="Calibri" pitchFamily="34" charset="0"/>
                <a:ea typeface="Calibri" pitchFamily="34" charset="-122"/>
                <a:cs typeface="Calibri" pitchFamily="34" charset="-120"/>
              </a:rPr>
              <a:t>Questions?</a:t>
            </a:r>
            <a:endParaRPr lang="en-US" sz="3200" dirty="0"/>
          </a:p>
        </p:txBody>
      </p:sp>
      <p:sp>
        <p:nvSpPr>
          <p:cNvPr id="18" name="Text 16"/>
          <p:cNvSpPr/>
          <p:nvPr/>
        </p:nvSpPr>
        <p:spPr>
          <a:xfrm>
            <a:off x="457200" y="5760720"/>
            <a:ext cx="11247120" cy="32004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Open-sourcing the SDD scripts soon  ·  Slides + notes available</a:t>
            </a:r>
            <a:endParaRPr lang="en-US" sz="1300" dirty="0"/>
          </a:p>
        </p:txBody>
      </p:sp>
      <p:sp>
        <p:nvSpPr>
          <p:cNvPr id="19" name="Text 17"/>
          <p:cNvSpPr/>
          <p:nvPr/>
        </p:nvSpPr>
        <p:spPr>
          <a:xfrm>
            <a:off x="457200" y="6172200"/>
            <a:ext cx="1124712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Bala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Vibe Coding to Spec-Driven AI Engineering</dc:title>
  <dc:subject>PptxGenJS Presentation</dc:subject>
  <dc:creator>Bala</dc:creator>
  <cp:lastModifiedBy>Bala</cp:lastModifiedBy>
  <cp:revision>1</cp:revision>
  <dcterms:created xsi:type="dcterms:W3CDTF">2026-05-16T13:14:41Z</dcterms:created>
  <dcterms:modified xsi:type="dcterms:W3CDTF">2026-05-16T13:14:41Z</dcterms:modified>
</cp:coreProperties>
</file>